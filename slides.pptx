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93804B-D709-40F7-ABCE-F18F2E854A5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C0B5CFC-099B-42C4-8145-80642BC0119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A156AB2F-028A-4CBF-AD37-68714C6B8DC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4782057-5E96-4C9D-9054-C8A6B73369F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12A2C283-2862-4893-9E6A-5AD2FA9E4E4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9D54D64E-47DB-456F-9D33-29A079A3CC3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4EAE4FB5-3499-46C2-9F03-35F6C6672F6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205C5178-678D-4E2B-850A-C089DDB7D57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1CF02D9D-C04B-430B-9FB1-50B9E700915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48941FD0-982E-465B-A468-2845EF2E0BB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1C7D76A0-36B6-42ED-8276-D42F7191E94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8575832-BFD2-4AEC-80CB-D581B7D12DE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D6FB2CE-C0F6-4CF7-A465-69A9C7ECB44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y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41409C9-708D-43FA-83C6-CAA7427565A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414AF42-BF03-44ED-AB59-5CAA0F77FB9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EC86476-AFF0-48FD-90BC-22BE17B6830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80537A-B060-42A4-BE36-E722C00BCF9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909DFC6-FF33-43F5-82B2-AFB2D044CAD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5DAFEC4-7153-48D9-965F-6C753FD556B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381FC16-A64A-48C5-9F84-E5950F79485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Pulse para editar el formato del texto de título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Pulse para editar el formato de texto del esquema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Segundo nivel del esquema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Tercer nivel del esquema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Cuarto nivel del esquema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Quinto nivel del esquema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Sexto nivel del esquema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Séptimo nivel del esquema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79871BC-AA35-447F-A8BA-F91B205D359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Pulse para editar el formato de texto del esquema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Segundo nivel del esquema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Tercer nivel del esquema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Cuarto nivel del esquema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Quinto nivel del esquema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Sexto nivel del esquema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Séptimo nivel del esquema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14641BB-4D24-442B-B884-16A7B960BC7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2286000"/>
            <a:ext cx="12191400" cy="2559960"/>
          </a:xfrm>
          <a:prstGeom prst="rect">
            <a:avLst/>
          </a:prstGeom>
          <a:solidFill>
            <a:srgbClr val="244d7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Rectangle 2"/>
          <p:cNvSpPr/>
          <p:nvPr/>
        </p:nvSpPr>
        <p:spPr>
          <a:xfrm>
            <a:off x="0" y="3291840"/>
            <a:ext cx="12191400" cy="54360"/>
          </a:xfrm>
          <a:prstGeom prst="rect">
            <a:avLst/>
          </a:prstGeom>
          <a:solidFill>
            <a:srgbClr val="e88d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914400" y="2468880"/>
            <a:ext cx="100580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800" spc="-1" strike="noStrike">
                <a:solidFill>
                  <a:srgbClr val="ffffff"/>
                </a:solidFill>
                <a:latin typeface="Calibri"/>
              </a:rPr>
              <a:t>🏠  </a:t>
            </a:r>
            <a:r>
              <a:rPr b="1" lang="en-US" sz="4800" spc="-1" strike="noStrike">
                <a:solidFill>
                  <a:srgbClr val="ffffff"/>
                </a:solidFill>
                <a:latin typeface="Calibri"/>
              </a:rPr>
              <a:t>House Price Prediction</a:t>
            </a:r>
            <a:endParaRPr b="0" lang="es-E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914400" y="3474720"/>
            <a:ext cx="100580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ccd5e0"/>
                </a:solidFill>
                <a:latin typeface="Calibri"/>
              </a:rPr>
              <a:t>Proyecto de Machine Learning</a:t>
            </a:r>
            <a:endParaRPr b="0" lang="es-E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914400" y="4428000"/>
            <a:ext cx="10058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e88d2a"/>
                </a:solidFill>
                <a:latin typeface="Calibri"/>
              </a:rPr>
              <a:t>Artificial Intelligence Foundations — Fundació URV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Box 6"/>
          <p:cNvSpPr/>
          <p:nvPr/>
        </p:nvSpPr>
        <p:spPr>
          <a:xfrm>
            <a:off x="914400" y="5120640"/>
            <a:ext cx="100580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99aabb"/>
                </a:solidFill>
                <a:latin typeface="Calibri"/>
              </a:rPr>
              <a:t>Adrià  ·  Raul  |  Mayo 2026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1"/>
          <p:cNvSpPr/>
          <p:nvPr/>
        </p:nvSpPr>
        <p:spPr>
          <a:xfrm>
            <a:off x="0" y="0"/>
            <a:ext cx="12191400" cy="100548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" name="TextBox 2"/>
          <p:cNvSpPr/>
          <p:nvPr/>
        </p:nvSpPr>
        <p:spPr>
          <a:xfrm>
            <a:off x="548640" y="137160"/>
            <a:ext cx="109724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🎯  </a:t>
            </a: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¿Qué queríamos conseguir?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Rectangle 3"/>
          <p:cNvSpPr/>
          <p:nvPr/>
        </p:nvSpPr>
        <p:spPr>
          <a:xfrm>
            <a:off x="0" y="1005840"/>
            <a:ext cx="12191400" cy="54360"/>
          </a:xfrm>
          <a:prstGeom prst="rect">
            <a:avLst/>
          </a:prstGeom>
          <a:solidFill>
            <a:srgbClr val="e88d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Rectangle 4"/>
          <p:cNvSpPr/>
          <p:nvPr/>
        </p:nvSpPr>
        <p:spPr>
          <a:xfrm>
            <a:off x="0" y="6492240"/>
            <a:ext cx="12191400" cy="36540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" name="TextBox 5"/>
          <p:cNvSpPr/>
          <p:nvPr/>
        </p:nvSpPr>
        <p:spPr>
          <a:xfrm>
            <a:off x="457200" y="6510600"/>
            <a:ext cx="109724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House Price Prediction  ·  AI Foundations URV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Rectangle 6"/>
          <p:cNvSpPr/>
          <p:nvPr/>
        </p:nvSpPr>
        <p:spPr>
          <a:xfrm>
            <a:off x="457200" y="1280160"/>
            <a:ext cx="5486040" cy="2377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" name="Rectangle 7"/>
          <p:cNvSpPr/>
          <p:nvPr/>
        </p:nvSpPr>
        <p:spPr>
          <a:xfrm>
            <a:off x="457200" y="1280160"/>
            <a:ext cx="54360" cy="2377080"/>
          </a:xfrm>
          <a:prstGeom prst="rect">
            <a:avLst/>
          </a:prstGeom>
          <a:solidFill>
            <a:srgbClr val="2c5f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" name="TextBox 8"/>
          <p:cNvSpPr/>
          <p:nvPr/>
        </p:nvSpPr>
        <p:spPr>
          <a:xfrm>
            <a:off x="640080" y="1389960"/>
            <a:ext cx="51202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c5f8a"/>
                </a:solidFill>
                <a:latin typeface="Calibri"/>
              </a:rPr>
              <a:t>El problema</a:t>
            </a:r>
            <a:endParaRPr b="0" lang="es-E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Box 9"/>
          <p:cNvSpPr/>
          <p:nvPr/>
        </p:nvSpPr>
        <p:spPr>
          <a:xfrm>
            <a:off x="640080" y="1737360"/>
            <a:ext cx="512028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Predecir el precio de una casa (SalePrice)</a:t>
            </a:r>
            <a:br>
              <a:rPr sz="1400"/>
            </a:b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a partir de sus características</a:t>
            </a:r>
            <a:br>
              <a:rPr sz="1400"/>
            </a:b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(tamaño, calidad, ubicación...)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Rectangle 10"/>
          <p:cNvSpPr/>
          <p:nvPr/>
        </p:nvSpPr>
        <p:spPr>
          <a:xfrm>
            <a:off x="6217920" y="1280160"/>
            <a:ext cx="5486040" cy="2377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3" name="Rectangle 11"/>
          <p:cNvSpPr/>
          <p:nvPr/>
        </p:nvSpPr>
        <p:spPr>
          <a:xfrm>
            <a:off x="6217920" y="1280160"/>
            <a:ext cx="54360" cy="2377080"/>
          </a:xfrm>
          <a:prstGeom prst="rect">
            <a:avLst/>
          </a:prstGeom>
          <a:solidFill>
            <a:srgbClr val="4a90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" name="TextBox 12"/>
          <p:cNvSpPr/>
          <p:nvPr/>
        </p:nvSpPr>
        <p:spPr>
          <a:xfrm>
            <a:off x="6400800" y="1389960"/>
            <a:ext cx="51202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4a90d9"/>
                </a:solidFill>
                <a:latin typeface="Calibri"/>
              </a:rPr>
              <a:t>El dataset</a:t>
            </a:r>
            <a:endParaRPr b="0" lang="es-E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Box 13"/>
          <p:cNvSpPr/>
          <p:nvPr/>
        </p:nvSpPr>
        <p:spPr>
          <a:xfrm>
            <a:off x="6400800" y="1737360"/>
            <a:ext cx="512028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Kaggle House Prices</a:t>
            </a:r>
            <a:br>
              <a:rPr sz="1400"/>
            </a:b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1.460 casas · 80 variables</a:t>
            </a:r>
            <a:br>
              <a:rPr sz="1400"/>
            </a:b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Datos reales de Ames, Iowa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Rectangle 14"/>
          <p:cNvSpPr/>
          <p:nvPr/>
        </p:nvSpPr>
        <p:spPr>
          <a:xfrm>
            <a:off x="457200" y="3931920"/>
            <a:ext cx="5486040" cy="2285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" name="Rectangle 15"/>
          <p:cNvSpPr/>
          <p:nvPr/>
        </p:nvSpPr>
        <p:spPr>
          <a:xfrm>
            <a:off x="457200" y="3931920"/>
            <a:ext cx="54360" cy="2285640"/>
          </a:xfrm>
          <a:prstGeom prst="rect">
            <a:avLst/>
          </a:prstGeom>
          <a:solidFill>
            <a:srgbClr val="2c5f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" name="TextBox 16"/>
          <p:cNvSpPr/>
          <p:nvPr/>
        </p:nvSpPr>
        <p:spPr>
          <a:xfrm>
            <a:off x="640080" y="4041720"/>
            <a:ext cx="51202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c5f8a"/>
                </a:solidFill>
                <a:latin typeface="Calibri"/>
              </a:rPr>
              <a:t>El enfoque</a:t>
            </a:r>
            <a:endParaRPr b="0" lang="es-E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Box 17"/>
          <p:cNvSpPr/>
          <p:nvPr/>
        </p:nvSpPr>
        <p:spPr>
          <a:xfrm>
            <a:off x="640080" y="4389120"/>
            <a:ext cx="51202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Pipeline completo de ML:</a:t>
            </a:r>
            <a:br>
              <a:rPr sz="1400"/>
            </a:b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EDA → Preprocesamiento → Modelo → App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Rectangle 18"/>
          <p:cNvSpPr/>
          <p:nvPr/>
        </p:nvSpPr>
        <p:spPr>
          <a:xfrm>
            <a:off x="6217920" y="3931920"/>
            <a:ext cx="5486040" cy="2285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" name="Rectangle 19"/>
          <p:cNvSpPr/>
          <p:nvPr/>
        </p:nvSpPr>
        <p:spPr>
          <a:xfrm>
            <a:off x="6217920" y="3931920"/>
            <a:ext cx="54360" cy="2285640"/>
          </a:xfrm>
          <a:prstGeom prst="rect">
            <a:avLst/>
          </a:prstGeom>
          <a:solidFill>
            <a:srgbClr val="4a90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" name="TextBox 20"/>
          <p:cNvSpPr/>
          <p:nvPr/>
        </p:nvSpPr>
        <p:spPr>
          <a:xfrm>
            <a:off x="6400800" y="4041720"/>
            <a:ext cx="51202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4a90d9"/>
                </a:solidFill>
                <a:latin typeface="Calibri"/>
              </a:rPr>
              <a:t>El resultado</a:t>
            </a:r>
            <a:endParaRPr b="0" lang="es-E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Box 21"/>
          <p:cNvSpPr/>
          <p:nvPr/>
        </p:nvSpPr>
        <p:spPr>
          <a:xfrm>
            <a:off x="6400800" y="4389120"/>
            <a:ext cx="512028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App interactiva en Streamlit</a:t>
            </a:r>
            <a:br>
              <a:rPr sz="1400"/>
            </a:b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donde puedes meter datos</a:t>
            </a:r>
            <a:br>
              <a:rPr sz="1400"/>
            </a:b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y obtener una predicción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0" y="0"/>
            <a:ext cx="12191400" cy="100548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" name="TextBox 2"/>
          <p:cNvSpPr/>
          <p:nvPr/>
        </p:nvSpPr>
        <p:spPr>
          <a:xfrm>
            <a:off x="548640" y="137160"/>
            <a:ext cx="109724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🔍  </a:t>
            </a: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Explorando los datos (Exploratory Data Analisys)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Rectangle 3"/>
          <p:cNvSpPr/>
          <p:nvPr/>
        </p:nvSpPr>
        <p:spPr>
          <a:xfrm>
            <a:off x="0" y="1005840"/>
            <a:ext cx="12191400" cy="54360"/>
          </a:xfrm>
          <a:prstGeom prst="rect">
            <a:avLst/>
          </a:prstGeom>
          <a:solidFill>
            <a:srgbClr val="e88d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" name="Rectangle 4"/>
          <p:cNvSpPr/>
          <p:nvPr/>
        </p:nvSpPr>
        <p:spPr>
          <a:xfrm>
            <a:off x="0" y="6492240"/>
            <a:ext cx="12191400" cy="36540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" name="TextBox 5"/>
          <p:cNvSpPr/>
          <p:nvPr/>
        </p:nvSpPr>
        <p:spPr>
          <a:xfrm>
            <a:off x="457200" y="6510600"/>
            <a:ext cx="109724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House Price Prediction  ·  AI Foundations URV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9" name="Picture 6" descr="saleprice_hist.png"/>
          <p:cNvPicPr/>
          <p:nvPr/>
        </p:nvPicPr>
        <p:blipFill>
          <a:blip r:embed="rId1"/>
          <a:stretch/>
        </p:blipFill>
        <p:spPr>
          <a:xfrm>
            <a:off x="365760" y="1188720"/>
            <a:ext cx="3726720" cy="2468520"/>
          </a:xfrm>
          <a:prstGeom prst="rect">
            <a:avLst/>
          </a:prstGeom>
          <a:ln w="0">
            <a:noFill/>
          </a:ln>
        </p:spPr>
      </p:pic>
      <p:pic>
        <p:nvPicPr>
          <p:cNvPr id="100" name="Picture 7" descr="corr_heatmap.png"/>
          <p:cNvPicPr/>
          <p:nvPr/>
        </p:nvPicPr>
        <p:blipFill>
          <a:blip r:embed="rId2"/>
          <a:stretch/>
        </p:blipFill>
        <p:spPr>
          <a:xfrm>
            <a:off x="4389120" y="1188720"/>
            <a:ext cx="2810880" cy="2468520"/>
          </a:xfrm>
          <a:prstGeom prst="rect">
            <a:avLst/>
          </a:prstGeom>
          <a:ln w="0">
            <a:noFill/>
          </a:ln>
        </p:spPr>
      </p:pic>
      <p:pic>
        <p:nvPicPr>
          <p:cNvPr id="101" name="Picture 8" descr="outliers_boxplot.png"/>
          <p:cNvPicPr/>
          <p:nvPr/>
        </p:nvPicPr>
        <p:blipFill>
          <a:blip r:embed="rId3"/>
          <a:stretch/>
        </p:blipFill>
        <p:spPr>
          <a:xfrm>
            <a:off x="8412480" y="1188720"/>
            <a:ext cx="4565160" cy="2468520"/>
          </a:xfrm>
          <a:prstGeom prst="rect">
            <a:avLst/>
          </a:prstGeom>
          <a:ln w="0">
            <a:noFill/>
          </a:ln>
        </p:spPr>
      </p:pic>
      <p:sp>
        <p:nvSpPr>
          <p:cNvPr id="102" name="TextBox 9"/>
          <p:cNvSpPr/>
          <p:nvPr/>
        </p:nvSpPr>
        <p:spPr>
          <a:xfrm>
            <a:off x="365760" y="3749040"/>
            <a:ext cx="3657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1b3a5c"/>
                </a:solidFill>
                <a:latin typeface="Calibri"/>
              </a:rPr>
              <a:t>💰  </a:t>
            </a:r>
            <a:r>
              <a:rPr b="1" lang="en-US" sz="1600" spc="-1" strike="noStrike">
                <a:solidFill>
                  <a:srgbClr val="1b3a5c"/>
                </a:solidFill>
                <a:latin typeface="Calibri"/>
              </a:rPr>
              <a:t>Precios de las casas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Box 10"/>
          <p:cNvSpPr/>
          <p:nvPr/>
        </p:nvSpPr>
        <p:spPr>
          <a:xfrm>
            <a:off x="365760" y="4023360"/>
            <a:ext cx="365724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Mayoría entre 100k y 200k</a:t>
            </a:r>
            <a:br>
              <a:rPr sz="1400"/>
            </a:b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Distribución asimétrica</a:t>
            </a:r>
            <a:br>
              <a:rPr sz="1400"/>
            </a:b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(la mayoría son casas asequibles)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Box 11"/>
          <p:cNvSpPr/>
          <p:nvPr/>
        </p:nvSpPr>
        <p:spPr>
          <a:xfrm>
            <a:off x="4389120" y="3749040"/>
            <a:ext cx="3657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1b3a5c"/>
                </a:solidFill>
                <a:latin typeface="Calibri"/>
              </a:rPr>
              <a:t>🔗  </a:t>
            </a:r>
            <a:r>
              <a:rPr b="1" lang="en-US" sz="1600" spc="-1" strike="noStrike">
                <a:solidFill>
                  <a:srgbClr val="1b3a5c"/>
                </a:solidFill>
                <a:latin typeface="Calibri"/>
              </a:rPr>
              <a:t>¿Qué afecta al precio?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Box 12"/>
          <p:cNvSpPr/>
          <p:nvPr/>
        </p:nvSpPr>
        <p:spPr>
          <a:xfrm>
            <a:off x="4389120" y="4023360"/>
            <a:ext cx="365724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OverallQual (0.79) ← calidad</a:t>
            </a:r>
            <a:br>
              <a:rPr sz="1400"/>
            </a:b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GrLivArea (0.71) ← metros</a:t>
            </a:r>
            <a:br>
              <a:rPr sz="1400"/>
            </a:b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GarageCars (0.64) ← garaje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Box 13"/>
          <p:cNvSpPr/>
          <p:nvPr/>
        </p:nvSpPr>
        <p:spPr>
          <a:xfrm>
            <a:off x="8412480" y="3749040"/>
            <a:ext cx="3657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1b3a5c"/>
                </a:solidFill>
                <a:latin typeface="Calibri"/>
              </a:rPr>
              <a:t>📦  </a:t>
            </a:r>
            <a:r>
              <a:rPr b="1" lang="en-US" sz="1600" spc="-1" strike="noStrike">
                <a:solidFill>
                  <a:srgbClr val="1b3a5c"/>
                </a:solidFill>
                <a:latin typeface="Calibri"/>
              </a:rPr>
              <a:t>Valores faltantes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Box 14"/>
          <p:cNvSpPr/>
          <p:nvPr/>
        </p:nvSpPr>
        <p:spPr>
          <a:xfrm>
            <a:off x="8412480" y="4023360"/>
            <a:ext cx="365724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Hay columnas con muchos</a:t>
            </a:r>
            <a:br>
              <a:rPr sz="1400"/>
            </a:b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valores vacíos, como PoolQC</a:t>
            </a:r>
            <a:br>
              <a:rPr sz="1400"/>
            </a:b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(99.5%) o MiscFeature (96.3%)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Rectangle 15"/>
          <p:cNvSpPr/>
          <p:nvPr/>
        </p:nvSpPr>
        <p:spPr>
          <a:xfrm>
            <a:off x="365760" y="5029200"/>
            <a:ext cx="11429640" cy="118836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9" name="TextBox 16"/>
          <p:cNvSpPr/>
          <p:nvPr/>
        </p:nvSpPr>
        <p:spPr>
          <a:xfrm>
            <a:off x="640080" y="5074920"/>
            <a:ext cx="109724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2c5f8a"/>
                </a:solidFill>
                <a:latin typeface="Calibri"/>
              </a:rPr>
              <a:t>💡  </a:t>
            </a:r>
            <a:r>
              <a:rPr b="1" lang="en-US" sz="1600" spc="-1" strike="noStrike">
                <a:solidFill>
                  <a:srgbClr val="2c5f8a"/>
                </a:solidFill>
                <a:latin typeface="Calibri"/>
              </a:rPr>
              <a:t>Aprendizaje: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Box 17"/>
          <p:cNvSpPr/>
          <p:nvPr/>
        </p:nvSpPr>
        <p:spPr>
          <a:xfrm>
            <a:off x="640080" y="5394960"/>
            <a:ext cx="109724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</a:rPr>
              <a:t>No todas las variables son importantes. Nos podemos centrar en las que más se relacionan con el precio.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angle 1"/>
          <p:cNvSpPr/>
          <p:nvPr/>
        </p:nvSpPr>
        <p:spPr>
          <a:xfrm>
            <a:off x="0" y="0"/>
            <a:ext cx="12191400" cy="100548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2" name="TextBox 2"/>
          <p:cNvSpPr/>
          <p:nvPr/>
        </p:nvSpPr>
        <p:spPr>
          <a:xfrm>
            <a:off x="548640" y="137160"/>
            <a:ext cx="109724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🧹  </a:t>
            </a: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Limpieza y preparación de los datos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Rectangle 3"/>
          <p:cNvSpPr/>
          <p:nvPr/>
        </p:nvSpPr>
        <p:spPr>
          <a:xfrm>
            <a:off x="0" y="1005840"/>
            <a:ext cx="12191400" cy="54360"/>
          </a:xfrm>
          <a:prstGeom prst="rect">
            <a:avLst/>
          </a:prstGeom>
          <a:solidFill>
            <a:srgbClr val="e88d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4" name="Rectangle 4"/>
          <p:cNvSpPr/>
          <p:nvPr/>
        </p:nvSpPr>
        <p:spPr>
          <a:xfrm>
            <a:off x="0" y="6492240"/>
            <a:ext cx="12191400" cy="36540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5" name="TextBox 5"/>
          <p:cNvSpPr/>
          <p:nvPr/>
        </p:nvSpPr>
        <p:spPr>
          <a:xfrm>
            <a:off x="457200" y="6510600"/>
            <a:ext cx="109724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House Price Prediction  ·  AI Foundations URV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Rectangle 6"/>
          <p:cNvSpPr/>
          <p:nvPr/>
        </p:nvSpPr>
        <p:spPr>
          <a:xfrm>
            <a:off x="457200" y="1280160"/>
            <a:ext cx="3474360" cy="2102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7" name="Rectangle 7"/>
          <p:cNvSpPr/>
          <p:nvPr/>
        </p:nvSpPr>
        <p:spPr>
          <a:xfrm>
            <a:off x="457200" y="1280160"/>
            <a:ext cx="54360" cy="2102760"/>
          </a:xfrm>
          <a:prstGeom prst="rect">
            <a:avLst/>
          </a:prstGeom>
          <a:solidFill>
            <a:srgbClr val="2c5f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8" name="TextBox 8"/>
          <p:cNvSpPr/>
          <p:nvPr/>
        </p:nvSpPr>
        <p:spPr>
          <a:xfrm>
            <a:off x="640080" y="1389960"/>
            <a:ext cx="31086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c5f8a"/>
                </a:solidFill>
                <a:latin typeface="Calibri"/>
              </a:rPr>
              <a:t>Rellenar huecos</a:t>
            </a:r>
            <a:endParaRPr b="0" lang="es-E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Box 9"/>
          <p:cNvSpPr/>
          <p:nvPr/>
        </p:nvSpPr>
        <p:spPr>
          <a:xfrm>
            <a:off x="640080" y="1737360"/>
            <a:ext cx="310860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Valores vacíos:</a:t>
            </a:r>
            <a:br>
              <a:rPr sz="1400"/>
            </a:b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• Números → mediana</a:t>
            </a:r>
            <a:br>
              <a:rPr sz="1400"/>
            </a:b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• Categorías → moda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Rectangle 10"/>
          <p:cNvSpPr/>
          <p:nvPr/>
        </p:nvSpPr>
        <p:spPr>
          <a:xfrm>
            <a:off x="4206240" y="1280160"/>
            <a:ext cx="3474360" cy="2102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1" name="Rectangle 11"/>
          <p:cNvSpPr/>
          <p:nvPr/>
        </p:nvSpPr>
        <p:spPr>
          <a:xfrm>
            <a:off x="4206240" y="1280160"/>
            <a:ext cx="54360" cy="2102760"/>
          </a:xfrm>
          <a:prstGeom prst="rect">
            <a:avLst/>
          </a:prstGeom>
          <a:solidFill>
            <a:srgbClr val="4a90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2" name="TextBox 12"/>
          <p:cNvSpPr/>
          <p:nvPr/>
        </p:nvSpPr>
        <p:spPr>
          <a:xfrm>
            <a:off x="4389120" y="1389960"/>
            <a:ext cx="31086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4a90d9"/>
                </a:solidFill>
                <a:latin typeface="Calibri"/>
              </a:rPr>
              <a:t>Estandarizar</a:t>
            </a:r>
            <a:endParaRPr b="0" lang="es-E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Box 13"/>
          <p:cNvSpPr/>
          <p:nvPr/>
        </p:nvSpPr>
        <p:spPr>
          <a:xfrm>
            <a:off x="4389120" y="1737360"/>
            <a:ext cx="310860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Poner todos los números</a:t>
            </a:r>
            <a:br>
              <a:rPr sz="1400"/>
            </a:b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en la misma escala</a:t>
            </a:r>
            <a:br>
              <a:rPr sz="1400"/>
            </a:b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con StandardScaler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Rectangle 14"/>
          <p:cNvSpPr/>
          <p:nvPr/>
        </p:nvSpPr>
        <p:spPr>
          <a:xfrm>
            <a:off x="7955280" y="1280160"/>
            <a:ext cx="3748680" cy="2102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5" name="Rectangle 15"/>
          <p:cNvSpPr/>
          <p:nvPr/>
        </p:nvSpPr>
        <p:spPr>
          <a:xfrm>
            <a:off x="7955280" y="1280160"/>
            <a:ext cx="54360" cy="2102760"/>
          </a:xfrm>
          <a:prstGeom prst="rect">
            <a:avLst/>
          </a:prstGeom>
          <a:solidFill>
            <a:srgbClr val="2c5f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6" name="TextBox 16"/>
          <p:cNvSpPr/>
          <p:nvPr/>
        </p:nvSpPr>
        <p:spPr>
          <a:xfrm>
            <a:off x="8138160" y="1389960"/>
            <a:ext cx="338292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c5f8a"/>
                </a:solidFill>
                <a:latin typeface="Calibri"/>
              </a:rPr>
              <a:t>Convertir texto a números</a:t>
            </a:r>
            <a:endParaRPr b="0" lang="es-E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Box 17"/>
          <p:cNvSpPr/>
          <p:nvPr/>
        </p:nvSpPr>
        <p:spPr>
          <a:xfrm>
            <a:off x="8138160" y="1737360"/>
            <a:ext cx="338292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Categorías → OneHotEncoding</a:t>
            </a:r>
            <a:br>
              <a:rPr sz="1400"/>
            </a:b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(cada opción se vuelve</a:t>
            </a:r>
            <a:br>
              <a:rPr sz="1400"/>
            </a:b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una columna de 0/1)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Rectangle 18"/>
          <p:cNvSpPr/>
          <p:nvPr/>
        </p:nvSpPr>
        <p:spPr>
          <a:xfrm>
            <a:off x="457200" y="3657600"/>
            <a:ext cx="11246760" cy="255996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9" name="TextBox 19"/>
          <p:cNvSpPr/>
          <p:nvPr/>
        </p:nvSpPr>
        <p:spPr>
          <a:xfrm>
            <a:off x="731520" y="3749040"/>
            <a:ext cx="45716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1b3a5c"/>
                </a:solidFill>
                <a:latin typeface="Calibri"/>
              </a:rPr>
              <a:t>✂️  </a:t>
            </a:r>
            <a:r>
              <a:rPr b="1" lang="en-US" sz="2000" spc="-1" strike="noStrike">
                <a:solidFill>
                  <a:srgbClr val="1b3a5c"/>
                </a:solidFill>
                <a:latin typeface="Calibri"/>
              </a:rPr>
              <a:t>División del dataset: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Rectangle 20"/>
          <p:cNvSpPr/>
          <p:nvPr/>
        </p:nvSpPr>
        <p:spPr>
          <a:xfrm>
            <a:off x="731520" y="4206240"/>
            <a:ext cx="2102760" cy="1371240"/>
          </a:xfrm>
          <a:prstGeom prst="rect">
            <a:avLst/>
          </a:prstGeom>
          <a:solidFill>
            <a:srgbClr val="dde8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1" name="TextBox 21"/>
          <p:cNvSpPr/>
          <p:nvPr/>
        </p:nvSpPr>
        <p:spPr>
          <a:xfrm>
            <a:off x="731520" y="4389120"/>
            <a:ext cx="2102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1b3a5c"/>
                </a:solidFill>
                <a:latin typeface="Calibri"/>
              </a:rPr>
              <a:t>80%  Train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Box 22"/>
          <p:cNvSpPr/>
          <p:nvPr/>
        </p:nvSpPr>
        <p:spPr>
          <a:xfrm>
            <a:off x="731520" y="4754880"/>
            <a:ext cx="21027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333333"/>
                </a:solidFill>
                <a:latin typeface="Calibri"/>
              </a:rPr>
              <a:t>1.168 casas</a:t>
            </a:r>
            <a:br>
              <a:rPr sz="1400"/>
            </a:br>
            <a:r>
              <a:rPr b="0" lang="en-US" sz="1400" spc="-1" strike="noStrike">
                <a:solidFill>
                  <a:srgbClr val="333333"/>
                </a:solidFill>
                <a:latin typeface="Calibri"/>
              </a:rPr>
              <a:t>para entrenar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Rectangle 23"/>
          <p:cNvSpPr/>
          <p:nvPr/>
        </p:nvSpPr>
        <p:spPr>
          <a:xfrm>
            <a:off x="3200400" y="4206240"/>
            <a:ext cx="2102760" cy="1371240"/>
          </a:xfrm>
          <a:prstGeom prst="rect">
            <a:avLst/>
          </a:prstGeom>
          <a:solidFill>
            <a:srgbClr val="fce4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4" name="TextBox 24"/>
          <p:cNvSpPr/>
          <p:nvPr/>
        </p:nvSpPr>
        <p:spPr>
          <a:xfrm>
            <a:off x="3200400" y="4389120"/>
            <a:ext cx="2102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cc6600"/>
                </a:solidFill>
                <a:latin typeface="Calibri"/>
              </a:rPr>
              <a:t>20%  Test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Box 25"/>
          <p:cNvSpPr/>
          <p:nvPr/>
        </p:nvSpPr>
        <p:spPr>
          <a:xfrm>
            <a:off x="3200400" y="4754880"/>
            <a:ext cx="21027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333333"/>
                </a:solidFill>
                <a:latin typeface="Calibri"/>
              </a:rPr>
              <a:t>292 casas</a:t>
            </a:r>
            <a:br>
              <a:rPr sz="1400"/>
            </a:br>
            <a:r>
              <a:rPr b="0" lang="en-US" sz="1400" spc="-1" strike="noStrike">
                <a:solidFill>
                  <a:srgbClr val="333333"/>
                </a:solidFill>
                <a:latin typeface="Calibri"/>
              </a:rPr>
              <a:t>para evaluar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Box 26"/>
          <p:cNvSpPr/>
          <p:nvPr/>
        </p:nvSpPr>
        <p:spPr>
          <a:xfrm>
            <a:off x="5943600" y="3749040"/>
            <a:ext cx="5486040" cy="168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666666"/>
                </a:solidFill>
                <a:latin typeface="Calibri"/>
              </a:rPr>
              <a:t>¿Por qué separar?</a:t>
            </a:r>
            <a:br>
              <a:rPr sz="1500"/>
            </a:br>
            <a:br>
              <a:rPr sz="1500"/>
            </a:br>
            <a:r>
              <a:rPr b="0" lang="en-US" sz="1500" spc="-1" strike="noStrike">
                <a:solidFill>
                  <a:srgbClr val="666666"/>
                </a:solidFill>
                <a:latin typeface="Calibri"/>
              </a:rPr>
              <a:t>Si evaluamos con los mismos</a:t>
            </a:r>
            <a:br>
              <a:rPr sz="1500"/>
            </a:br>
            <a:r>
              <a:rPr b="0" lang="en-US" sz="1500" spc="-1" strike="noStrike">
                <a:solidFill>
                  <a:srgbClr val="666666"/>
                </a:solidFill>
                <a:latin typeface="Calibri"/>
              </a:rPr>
              <a:t>datos que usamos para entrenar,</a:t>
            </a:r>
            <a:br>
              <a:rPr sz="1500"/>
            </a:br>
            <a:r>
              <a:rPr b="0" lang="en-US" sz="1500" spc="-1" strike="noStrike">
                <a:solidFill>
                  <a:srgbClr val="666666"/>
                </a:solidFill>
                <a:latin typeface="Calibri"/>
              </a:rPr>
              <a:t>el modelo haría "trampa" y no</a:t>
            </a:r>
            <a:br>
              <a:rPr sz="1500"/>
            </a:br>
            <a:r>
              <a:rPr b="0" lang="en-US" sz="1500" spc="-1" strike="noStrike">
                <a:solidFill>
                  <a:srgbClr val="666666"/>
                </a:solidFill>
                <a:latin typeface="Calibri"/>
              </a:rPr>
              <a:t>sabríamos si funciona de verdad</a:t>
            </a:r>
            <a:br>
              <a:rPr sz="1500"/>
            </a:br>
            <a:r>
              <a:rPr b="0" lang="en-US" sz="1500" spc="-1" strike="noStrike">
                <a:solidFill>
                  <a:srgbClr val="666666"/>
                </a:solidFill>
                <a:latin typeface="Calibri"/>
              </a:rPr>
              <a:t>con casos nuevos.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 1"/>
          <p:cNvSpPr/>
          <p:nvPr/>
        </p:nvSpPr>
        <p:spPr>
          <a:xfrm>
            <a:off x="0" y="0"/>
            <a:ext cx="12191400" cy="100548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8" name="TextBox 2"/>
          <p:cNvSpPr/>
          <p:nvPr/>
        </p:nvSpPr>
        <p:spPr>
          <a:xfrm>
            <a:off x="548640" y="137160"/>
            <a:ext cx="109724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⭐  </a:t>
            </a: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Las 6 variables más importantes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Rectangle 3"/>
          <p:cNvSpPr/>
          <p:nvPr/>
        </p:nvSpPr>
        <p:spPr>
          <a:xfrm>
            <a:off x="0" y="1005840"/>
            <a:ext cx="12191400" cy="54360"/>
          </a:xfrm>
          <a:prstGeom prst="rect">
            <a:avLst/>
          </a:prstGeom>
          <a:solidFill>
            <a:srgbClr val="e88d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0" name="Rectangle 4"/>
          <p:cNvSpPr/>
          <p:nvPr/>
        </p:nvSpPr>
        <p:spPr>
          <a:xfrm>
            <a:off x="0" y="6492240"/>
            <a:ext cx="12191400" cy="36540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1" name="TextBox 5"/>
          <p:cNvSpPr/>
          <p:nvPr/>
        </p:nvSpPr>
        <p:spPr>
          <a:xfrm>
            <a:off x="457200" y="6510600"/>
            <a:ext cx="109724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House Price Prediction  ·  AI Foundations URV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Box 6"/>
          <p:cNvSpPr/>
          <p:nvPr/>
        </p:nvSpPr>
        <p:spPr>
          <a:xfrm>
            <a:off x="457200" y="1097280"/>
            <a:ext cx="10972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666666"/>
                </a:solidFill>
                <a:latin typeface="Calibri"/>
              </a:rPr>
              <a:t>Nos quedamos con las que más influyen en el precio. Así el modelo es más sencillo de entender.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Rectangle 7"/>
          <p:cNvSpPr/>
          <p:nvPr/>
        </p:nvSpPr>
        <p:spPr>
          <a:xfrm>
            <a:off x="457200" y="1645920"/>
            <a:ext cx="11246760" cy="68544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4" name="Rectangle 8"/>
          <p:cNvSpPr/>
          <p:nvPr/>
        </p:nvSpPr>
        <p:spPr>
          <a:xfrm>
            <a:off x="457200" y="1645920"/>
            <a:ext cx="72720" cy="685440"/>
          </a:xfrm>
          <a:prstGeom prst="rect">
            <a:avLst/>
          </a:prstGeom>
          <a:solidFill>
            <a:srgbClr val="2c5f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5" name="TextBox 9"/>
          <p:cNvSpPr/>
          <p:nvPr/>
        </p:nvSpPr>
        <p:spPr>
          <a:xfrm>
            <a:off x="731520" y="1719000"/>
            <a:ext cx="22856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1b3a5c"/>
                </a:solidFill>
                <a:latin typeface="Calibri"/>
              </a:rPr>
              <a:t>OverallQual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Rectangle 10"/>
          <p:cNvSpPr/>
          <p:nvPr/>
        </p:nvSpPr>
        <p:spPr>
          <a:xfrm>
            <a:off x="3474720" y="1755720"/>
            <a:ext cx="822600" cy="411120"/>
          </a:xfrm>
          <a:prstGeom prst="rect">
            <a:avLst/>
          </a:prstGeom>
          <a:solidFill>
            <a:srgbClr val="4a90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7" name="TextBox 11"/>
          <p:cNvSpPr/>
          <p:nvPr/>
        </p:nvSpPr>
        <p:spPr>
          <a:xfrm>
            <a:off x="3474720" y="1774080"/>
            <a:ext cx="822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0.79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Box 12"/>
          <p:cNvSpPr/>
          <p:nvPr/>
        </p:nvSpPr>
        <p:spPr>
          <a:xfrm>
            <a:off x="4572000" y="1719000"/>
            <a:ext cx="64004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666666"/>
                </a:solidFill>
                <a:latin typeface="Calibri"/>
              </a:rPr>
              <a:t>Calidad de la casa</a:t>
            </a:r>
            <a:endParaRPr b="0" lang="es-E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Rectangle 13"/>
          <p:cNvSpPr/>
          <p:nvPr/>
        </p:nvSpPr>
        <p:spPr>
          <a:xfrm>
            <a:off x="457200" y="2468880"/>
            <a:ext cx="11246760" cy="685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0" name="Rectangle 14"/>
          <p:cNvSpPr/>
          <p:nvPr/>
        </p:nvSpPr>
        <p:spPr>
          <a:xfrm>
            <a:off x="457200" y="2468880"/>
            <a:ext cx="72720" cy="685440"/>
          </a:xfrm>
          <a:prstGeom prst="rect">
            <a:avLst/>
          </a:prstGeom>
          <a:solidFill>
            <a:srgbClr val="2c5f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1" name="TextBox 15"/>
          <p:cNvSpPr/>
          <p:nvPr/>
        </p:nvSpPr>
        <p:spPr>
          <a:xfrm>
            <a:off x="731520" y="2541960"/>
            <a:ext cx="22856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1b3a5c"/>
                </a:solidFill>
                <a:latin typeface="Calibri"/>
              </a:rPr>
              <a:t>GrLivArea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Rectangle 16"/>
          <p:cNvSpPr/>
          <p:nvPr/>
        </p:nvSpPr>
        <p:spPr>
          <a:xfrm>
            <a:off x="3474720" y="2578680"/>
            <a:ext cx="822600" cy="411120"/>
          </a:xfrm>
          <a:prstGeom prst="rect">
            <a:avLst/>
          </a:prstGeom>
          <a:solidFill>
            <a:srgbClr val="4a90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3" name="TextBox 17"/>
          <p:cNvSpPr/>
          <p:nvPr/>
        </p:nvSpPr>
        <p:spPr>
          <a:xfrm>
            <a:off x="3474720" y="2597040"/>
            <a:ext cx="822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0.71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Box 18"/>
          <p:cNvSpPr/>
          <p:nvPr/>
        </p:nvSpPr>
        <p:spPr>
          <a:xfrm>
            <a:off x="4572000" y="2541960"/>
            <a:ext cx="64004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666666"/>
                </a:solidFill>
                <a:latin typeface="Calibri"/>
              </a:rPr>
              <a:t>Metros cuadrados habitables</a:t>
            </a:r>
            <a:endParaRPr b="0" lang="es-E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Rectangle 19"/>
          <p:cNvSpPr/>
          <p:nvPr/>
        </p:nvSpPr>
        <p:spPr>
          <a:xfrm>
            <a:off x="457200" y="3291840"/>
            <a:ext cx="11246760" cy="68544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6" name="Rectangle 20"/>
          <p:cNvSpPr/>
          <p:nvPr/>
        </p:nvSpPr>
        <p:spPr>
          <a:xfrm>
            <a:off x="457200" y="3291840"/>
            <a:ext cx="72720" cy="685440"/>
          </a:xfrm>
          <a:prstGeom prst="rect">
            <a:avLst/>
          </a:prstGeom>
          <a:solidFill>
            <a:srgbClr val="2c5f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7" name="TextBox 21"/>
          <p:cNvSpPr/>
          <p:nvPr/>
        </p:nvSpPr>
        <p:spPr>
          <a:xfrm>
            <a:off x="731520" y="3364920"/>
            <a:ext cx="22856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1b3a5c"/>
                </a:solidFill>
                <a:latin typeface="Calibri"/>
              </a:rPr>
              <a:t>GarageCars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Rectangle 22"/>
          <p:cNvSpPr/>
          <p:nvPr/>
        </p:nvSpPr>
        <p:spPr>
          <a:xfrm>
            <a:off x="3474720" y="3401640"/>
            <a:ext cx="822600" cy="411120"/>
          </a:xfrm>
          <a:prstGeom prst="rect">
            <a:avLst/>
          </a:prstGeom>
          <a:solidFill>
            <a:srgbClr val="4a90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9" name="TextBox 23"/>
          <p:cNvSpPr/>
          <p:nvPr/>
        </p:nvSpPr>
        <p:spPr>
          <a:xfrm>
            <a:off x="3474720" y="3420000"/>
            <a:ext cx="822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0.64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Box 24"/>
          <p:cNvSpPr/>
          <p:nvPr/>
        </p:nvSpPr>
        <p:spPr>
          <a:xfrm>
            <a:off x="4572000" y="3364920"/>
            <a:ext cx="64004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666666"/>
                </a:solidFill>
                <a:latin typeface="Calibri"/>
              </a:rPr>
              <a:t>Plazas de garaje</a:t>
            </a:r>
            <a:endParaRPr b="0" lang="es-E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Rectangle 25"/>
          <p:cNvSpPr/>
          <p:nvPr/>
        </p:nvSpPr>
        <p:spPr>
          <a:xfrm>
            <a:off x="457200" y="4114800"/>
            <a:ext cx="11246760" cy="685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2" name="Rectangle 26"/>
          <p:cNvSpPr/>
          <p:nvPr/>
        </p:nvSpPr>
        <p:spPr>
          <a:xfrm>
            <a:off x="457200" y="4114800"/>
            <a:ext cx="72720" cy="685440"/>
          </a:xfrm>
          <a:prstGeom prst="rect">
            <a:avLst/>
          </a:prstGeom>
          <a:solidFill>
            <a:srgbClr val="2c5f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3" name="TextBox 27"/>
          <p:cNvSpPr/>
          <p:nvPr/>
        </p:nvSpPr>
        <p:spPr>
          <a:xfrm>
            <a:off x="731520" y="4187880"/>
            <a:ext cx="22856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1b3a5c"/>
                </a:solidFill>
                <a:latin typeface="Calibri"/>
              </a:rPr>
              <a:t>TotalBsmtSF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Rectangle 28"/>
          <p:cNvSpPr/>
          <p:nvPr/>
        </p:nvSpPr>
        <p:spPr>
          <a:xfrm>
            <a:off x="3474720" y="4224600"/>
            <a:ext cx="822600" cy="411120"/>
          </a:xfrm>
          <a:prstGeom prst="rect">
            <a:avLst/>
          </a:prstGeom>
          <a:solidFill>
            <a:srgbClr val="4a90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5" name="TextBox 29"/>
          <p:cNvSpPr/>
          <p:nvPr/>
        </p:nvSpPr>
        <p:spPr>
          <a:xfrm>
            <a:off x="3474720" y="4242960"/>
            <a:ext cx="822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0.61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Box 30"/>
          <p:cNvSpPr/>
          <p:nvPr/>
        </p:nvSpPr>
        <p:spPr>
          <a:xfrm>
            <a:off x="4572000" y="4187880"/>
            <a:ext cx="64004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666666"/>
                </a:solidFill>
                <a:latin typeface="Calibri"/>
              </a:rPr>
              <a:t>Tamaño del sótano</a:t>
            </a:r>
            <a:endParaRPr b="0" lang="es-E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Rectangle 31"/>
          <p:cNvSpPr/>
          <p:nvPr/>
        </p:nvSpPr>
        <p:spPr>
          <a:xfrm>
            <a:off x="457200" y="4937760"/>
            <a:ext cx="11246760" cy="68544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8" name="Rectangle 32"/>
          <p:cNvSpPr/>
          <p:nvPr/>
        </p:nvSpPr>
        <p:spPr>
          <a:xfrm>
            <a:off x="457200" y="4937760"/>
            <a:ext cx="72720" cy="685440"/>
          </a:xfrm>
          <a:prstGeom prst="rect">
            <a:avLst/>
          </a:prstGeom>
          <a:solidFill>
            <a:srgbClr val="2c5f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9" name="TextBox 33"/>
          <p:cNvSpPr/>
          <p:nvPr/>
        </p:nvSpPr>
        <p:spPr>
          <a:xfrm>
            <a:off x="731520" y="5010840"/>
            <a:ext cx="22856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1b3a5c"/>
                </a:solidFill>
                <a:latin typeface="Calibri"/>
              </a:rPr>
              <a:t>FullBath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Rectangle 34"/>
          <p:cNvSpPr/>
          <p:nvPr/>
        </p:nvSpPr>
        <p:spPr>
          <a:xfrm>
            <a:off x="3474720" y="5047560"/>
            <a:ext cx="822600" cy="411120"/>
          </a:xfrm>
          <a:prstGeom prst="rect">
            <a:avLst/>
          </a:prstGeom>
          <a:solidFill>
            <a:srgbClr val="4a90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1" name="TextBox 35"/>
          <p:cNvSpPr/>
          <p:nvPr/>
        </p:nvSpPr>
        <p:spPr>
          <a:xfrm>
            <a:off x="3474720" y="5065920"/>
            <a:ext cx="822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0.56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Box 36"/>
          <p:cNvSpPr/>
          <p:nvPr/>
        </p:nvSpPr>
        <p:spPr>
          <a:xfrm>
            <a:off x="4572000" y="5010840"/>
            <a:ext cx="64004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666666"/>
                </a:solidFill>
                <a:latin typeface="Calibri"/>
              </a:rPr>
              <a:t>Baños completos</a:t>
            </a:r>
            <a:endParaRPr b="0" lang="es-E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Rectangle 37"/>
          <p:cNvSpPr/>
          <p:nvPr/>
        </p:nvSpPr>
        <p:spPr>
          <a:xfrm>
            <a:off x="457200" y="5760720"/>
            <a:ext cx="11246760" cy="685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4" name="Rectangle 38"/>
          <p:cNvSpPr/>
          <p:nvPr/>
        </p:nvSpPr>
        <p:spPr>
          <a:xfrm>
            <a:off x="457200" y="5760720"/>
            <a:ext cx="72720" cy="685440"/>
          </a:xfrm>
          <a:prstGeom prst="rect">
            <a:avLst/>
          </a:prstGeom>
          <a:solidFill>
            <a:srgbClr val="2c5f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5" name="TextBox 39"/>
          <p:cNvSpPr/>
          <p:nvPr/>
        </p:nvSpPr>
        <p:spPr>
          <a:xfrm>
            <a:off x="731520" y="5833800"/>
            <a:ext cx="22856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1b3a5c"/>
                </a:solidFill>
                <a:latin typeface="Calibri"/>
              </a:rPr>
              <a:t>YearBuilt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Rectangle 40"/>
          <p:cNvSpPr/>
          <p:nvPr/>
        </p:nvSpPr>
        <p:spPr>
          <a:xfrm>
            <a:off x="3474720" y="5870520"/>
            <a:ext cx="822600" cy="411120"/>
          </a:xfrm>
          <a:prstGeom prst="rect">
            <a:avLst/>
          </a:prstGeom>
          <a:solidFill>
            <a:srgbClr val="4a90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7" name="TextBox 41"/>
          <p:cNvSpPr/>
          <p:nvPr/>
        </p:nvSpPr>
        <p:spPr>
          <a:xfrm>
            <a:off x="3474720" y="5888880"/>
            <a:ext cx="822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0.52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Box 42"/>
          <p:cNvSpPr/>
          <p:nvPr/>
        </p:nvSpPr>
        <p:spPr>
          <a:xfrm>
            <a:off x="4572000" y="5833800"/>
            <a:ext cx="64004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666666"/>
                </a:solidFill>
                <a:latin typeface="Calibri"/>
              </a:rPr>
              <a:t>Año de construcción</a:t>
            </a:r>
            <a:endParaRPr b="0" lang="es-E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Rectangle 43"/>
          <p:cNvSpPr/>
          <p:nvPr/>
        </p:nvSpPr>
        <p:spPr>
          <a:xfrm>
            <a:off x="457200" y="5669280"/>
            <a:ext cx="11246760" cy="548280"/>
          </a:xfrm>
          <a:prstGeom prst="rect">
            <a:avLst/>
          </a:prstGeom>
          <a:solidFill>
            <a:srgbClr val="ddee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0" name="TextBox 44"/>
          <p:cNvSpPr/>
          <p:nvPr/>
        </p:nvSpPr>
        <p:spPr>
          <a:xfrm>
            <a:off x="731520" y="5715000"/>
            <a:ext cx="109724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2c5f8a"/>
                </a:solidFill>
                <a:latin typeface="Calibri"/>
              </a:rPr>
              <a:t>💡  </a:t>
            </a:r>
            <a:r>
              <a:rPr b="1" lang="en-US" sz="1600" spc="-1" strike="noStrike">
                <a:solidFill>
                  <a:srgbClr val="2c5f8a"/>
                </a:solidFill>
                <a:latin typeface="Calibri"/>
              </a:rPr>
              <a:t>Con solo 6 variables podemos predecir el precio con bastante precisión. Menos es más.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Rectangle 1"/>
          <p:cNvSpPr/>
          <p:nvPr/>
        </p:nvSpPr>
        <p:spPr>
          <a:xfrm>
            <a:off x="0" y="0"/>
            <a:ext cx="12191400" cy="100548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2" name="TextBox 2"/>
          <p:cNvSpPr/>
          <p:nvPr/>
        </p:nvSpPr>
        <p:spPr>
          <a:xfrm>
            <a:off x="548640" y="137160"/>
            <a:ext cx="109724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🤖  </a:t>
            </a: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Nuestro primer modelo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Rectangle 3"/>
          <p:cNvSpPr/>
          <p:nvPr/>
        </p:nvSpPr>
        <p:spPr>
          <a:xfrm>
            <a:off x="0" y="1005840"/>
            <a:ext cx="12191400" cy="54360"/>
          </a:xfrm>
          <a:prstGeom prst="rect">
            <a:avLst/>
          </a:prstGeom>
          <a:solidFill>
            <a:srgbClr val="e88d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4" name="Rectangle 4"/>
          <p:cNvSpPr/>
          <p:nvPr/>
        </p:nvSpPr>
        <p:spPr>
          <a:xfrm>
            <a:off x="0" y="6492240"/>
            <a:ext cx="12191400" cy="36540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5" name="TextBox 5"/>
          <p:cNvSpPr/>
          <p:nvPr/>
        </p:nvSpPr>
        <p:spPr>
          <a:xfrm>
            <a:off x="457200" y="6510600"/>
            <a:ext cx="109724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House Price Prediction  ·  AI Foundations URV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Box 6"/>
          <p:cNvSpPr/>
          <p:nvPr/>
        </p:nvSpPr>
        <p:spPr>
          <a:xfrm>
            <a:off x="457200" y="1097280"/>
            <a:ext cx="10972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666666"/>
                </a:solidFill>
                <a:latin typeface="Calibri"/>
              </a:rPr>
              <a:t>Empezamos con un modelo sencillo: Random Forest — sin ajustar, con los valores por defecto.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Rectangle 7"/>
          <p:cNvSpPr/>
          <p:nvPr/>
        </p:nvSpPr>
        <p:spPr>
          <a:xfrm>
            <a:off x="457200" y="1645920"/>
            <a:ext cx="5028840" cy="228564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8" name="TextBox 8"/>
          <p:cNvSpPr/>
          <p:nvPr/>
        </p:nvSpPr>
        <p:spPr>
          <a:xfrm>
            <a:off x="731520" y="1737360"/>
            <a:ext cx="45716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1b3a5c"/>
                </a:solidFill>
                <a:latin typeface="Calibri"/>
              </a:rPr>
              <a:t>⚙️  </a:t>
            </a:r>
            <a:r>
              <a:rPr b="1" lang="en-US" sz="2000" spc="-1" strike="noStrike">
                <a:solidFill>
                  <a:srgbClr val="1b3a5c"/>
                </a:solidFill>
                <a:latin typeface="Calibri"/>
              </a:rPr>
              <a:t>Configuración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Box 9"/>
          <p:cNvSpPr/>
          <p:nvPr/>
        </p:nvSpPr>
        <p:spPr>
          <a:xfrm>
            <a:off x="731520" y="2103120"/>
            <a:ext cx="4388760" cy="10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700" spc="-1" strike="noStrike">
                <a:solidFill>
                  <a:srgbClr val="333333"/>
                </a:solidFill>
                <a:latin typeface="Calibri"/>
              </a:rPr>
              <a:t>  </a:t>
            </a:r>
            <a:r>
              <a:rPr b="0" lang="en-US" sz="1700" spc="-1" strike="noStrike">
                <a:solidFill>
                  <a:srgbClr val="333333"/>
                </a:solidFill>
                <a:latin typeface="Calibri"/>
              </a:rPr>
              <a:t>Algoritmo: RandomForestRegressor</a:t>
            </a:r>
            <a:endParaRPr b="0" lang="es-ES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700" spc="-1" strike="noStrike">
                <a:solidFill>
                  <a:srgbClr val="333333"/>
                </a:solidFill>
                <a:latin typeface="Calibri"/>
              </a:rPr>
              <a:t>  </a:t>
            </a:r>
            <a:r>
              <a:rPr b="0" lang="en-US" sz="1700" spc="-1" strike="noStrike">
                <a:solidFill>
                  <a:srgbClr val="333333"/>
                </a:solidFill>
                <a:latin typeface="Calibri"/>
              </a:rPr>
              <a:t>300 árboles de decisión</a:t>
            </a:r>
            <a:endParaRPr b="0" lang="es-ES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700" spc="-1" strike="noStrike">
                <a:solidFill>
                  <a:srgbClr val="333333"/>
                </a:solidFill>
                <a:latin typeface="Calibri"/>
              </a:rPr>
              <a:t>  </a:t>
            </a:r>
            <a:r>
              <a:rPr b="0" lang="en-US" sz="1700" spc="-1" strike="noStrike">
                <a:solidFill>
                  <a:srgbClr val="333333"/>
                </a:solidFill>
                <a:latin typeface="Calibri"/>
              </a:rPr>
              <a:t>Entrenado con las 6 variables</a:t>
            </a:r>
            <a:endParaRPr b="0" lang="es-E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Rectangle 10"/>
          <p:cNvSpPr/>
          <p:nvPr/>
        </p:nvSpPr>
        <p:spPr>
          <a:xfrm>
            <a:off x="5943600" y="1645920"/>
            <a:ext cx="5760360" cy="228564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1" name="TextBox 11"/>
          <p:cNvSpPr/>
          <p:nvPr/>
        </p:nvSpPr>
        <p:spPr>
          <a:xfrm>
            <a:off x="6217920" y="1737360"/>
            <a:ext cx="50288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1b3a5c"/>
                </a:solidFill>
                <a:latin typeface="Calibri"/>
              </a:rPr>
              <a:t>📊  </a:t>
            </a:r>
            <a:r>
              <a:rPr b="1" lang="en-US" sz="2000" spc="-1" strike="noStrike">
                <a:solidFill>
                  <a:srgbClr val="1b3a5c"/>
                </a:solidFill>
                <a:latin typeface="Calibri"/>
              </a:rPr>
              <a:t>Resultados en test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Box 12"/>
          <p:cNvSpPr/>
          <p:nvPr/>
        </p:nvSpPr>
        <p:spPr>
          <a:xfrm>
            <a:off x="6217920" y="2103120"/>
            <a:ext cx="15541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666666"/>
                </a:solidFill>
                <a:latin typeface="Calibri"/>
              </a:rPr>
              <a:t>RMSE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Box 13"/>
          <p:cNvSpPr/>
          <p:nvPr/>
        </p:nvSpPr>
        <p:spPr>
          <a:xfrm>
            <a:off x="7772400" y="2103120"/>
            <a:ext cx="1371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e88d2a"/>
                </a:solidFill>
                <a:latin typeface="Calibri"/>
              </a:rPr>
              <a:t>$29.102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Box 14"/>
          <p:cNvSpPr/>
          <p:nvPr/>
        </p:nvSpPr>
        <p:spPr>
          <a:xfrm>
            <a:off x="9326880" y="2103120"/>
            <a:ext cx="21027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666666"/>
                </a:solidFill>
                <a:latin typeface="Calibri"/>
              </a:rPr>
              <a:t>Error típico (en $)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Box 15"/>
          <p:cNvSpPr/>
          <p:nvPr/>
        </p:nvSpPr>
        <p:spPr>
          <a:xfrm>
            <a:off x="6217920" y="2560320"/>
            <a:ext cx="15541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666666"/>
                </a:solidFill>
                <a:latin typeface="Calibri"/>
              </a:rPr>
              <a:t>MAE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Box 16"/>
          <p:cNvSpPr/>
          <p:nvPr/>
        </p:nvSpPr>
        <p:spPr>
          <a:xfrm>
            <a:off x="7772400" y="2560320"/>
            <a:ext cx="1371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e88d2a"/>
                </a:solidFill>
                <a:latin typeface="Calibri"/>
              </a:rPr>
              <a:t>$19.067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Box 17"/>
          <p:cNvSpPr/>
          <p:nvPr/>
        </p:nvSpPr>
        <p:spPr>
          <a:xfrm>
            <a:off x="9326880" y="2560320"/>
            <a:ext cx="21027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666666"/>
                </a:solidFill>
                <a:latin typeface="Calibri"/>
              </a:rPr>
              <a:t>Error absoluto medio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Box 18"/>
          <p:cNvSpPr/>
          <p:nvPr/>
        </p:nvSpPr>
        <p:spPr>
          <a:xfrm>
            <a:off x="6217920" y="3017520"/>
            <a:ext cx="15541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666666"/>
                </a:solidFill>
                <a:latin typeface="Calibri"/>
              </a:rPr>
              <a:t>R²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Box 19"/>
          <p:cNvSpPr/>
          <p:nvPr/>
        </p:nvSpPr>
        <p:spPr>
          <a:xfrm>
            <a:off x="7772400" y="3017520"/>
            <a:ext cx="1371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e88d2a"/>
                </a:solidFill>
                <a:latin typeface="Calibri"/>
              </a:rPr>
              <a:t>0.8896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Box 20"/>
          <p:cNvSpPr/>
          <p:nvPr/>
        </p:nvSpPr>
        <p:spPr>
          <a:xfrm>
            <a:off x="9326880" y="3017520"/>
            <a:ext cx="21027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666666"/>
                </a:solidFill>
                <a:latin typeface="Calibri"/>
              </a:rPr>
              <a:t>Precisión (1 = perfecto)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Rectangle 21"/>
          <p:cNvSpPr/>
          <p:nvPr/>
        </p:nvSpPr>
        <p:spPr>
          <a:xfrm>
            <a:off x="457200" y="4206240"/>
            <a:ext cx="11246760" cy="201132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2" name="TextBox 22"/>
          <p:cNvSpPr/>
          <p:nvPr/>
        </p:nvSpPr>
        <p:spPr>
          <a:xfrm>
            <a:off x="731520" y="4297680"/>
            <a:ext cx="10972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1b3a5c"/>
                </a:solidFill>
                <a:latin typeface="Calibri"/>
              </a:rPr>
              <a:t>📝  </a:t>
            </a:r>
            <a:r>
              <a:rPr b="1" lang="en-US" sz="1800" spc="-1" strike="noStrike">
                <a:solidFill>
                  <a:srgbClr val="1b3a5c"/>
                </a:solidFill>
                <a:latin typeface="Calibri"/>
              </a:rPr>
              <a:t>¿Qué significa R² = 0.89?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Box 23"/>
          <p:cNvSpPr/>
          <p:nvPr/>
        </p:nvSpPr>
        <p:spPr>
          <a:xfrm>
            <a:off x="731520" y="4663440"/>
            <a:ext cx="10972440" cy="10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El modelo explica el 89% de la variación de los precios. Dicho de otro modo:</a:t>
            </a:r>
            <a:br>
              <a:rPr sz="1600"/>
            </a:b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de cada 10 casas, el modelo acierta la tendencia de casi 9.</a:t>
            </a:r>
            <a:br>
              <a:rPr sz="1600"/>
            </a:br>
            <a:br>
              <a:rPr sz="1600"/>
            </a:b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El error típico es de unos $29.000 — para ser nuestro primer modelo con solo 6 variables, ¡no está nada mal!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Rectangle 1"/>
          <p:cNvSpPr/>
          <p:nvPr/>
        </p:nvSpPr>
        <p:spPr>
          <a:xfrm>
            <a:off x="0" y="0"/>
            <a:ext cx="12191400" cy="100548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5" name="TextBox 2"/>
          <p:cNvSpPr/>
          <p:nvPr/>
        </p:nvSpPr>
        <p:spPr>
          <a:xfrm>
            <a:off x="548640" y="137160"/>
            <a:ext cx="109724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🔧  </a:t>
            </a: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Intentando mejorar el modelo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Rectangle 3"/>
          <p:cNvSpPr/>
          <p:nvPr/>
        </p:nvSpPr>
        <p:spPr>
          <a:xfrm>
            <a:off x="0" y="1005840"/>
            <a:ext cx="12191400" cy="54360"/>
          </a:xfrm>
          <a:prstGeom prst="rect">
            <a:avLst/>
          </a:prstGeom>
          <a:solidFill>
            <a:srgbClr val="e88d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7" name="Rectangle 4"/>
          <p:cNvSpPr/>
          <p:nvPr/>
        </p:nvSpPr>
        <p:spPr>
          <a:xfrm>
            <a:off x="0" y="6492240"/>
            <a:ext cx="12191400" cy="36540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8" name="TextBox 5"/>
          <p:cNvSpPr/>
          <p:nvPr/>
        </p:nvSpPr>
        <p:spPr>
          <a:xfrm>
            <a:off x="457200" y="6510600"/>
            <a:ext cx="109724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House Price Prediction  ·  AI Foundations URV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Box 6"/>
          <p:cNvSpPr/>
          <p:nvPr/>
        </p:nvSpPr>
        <p:spPr>
          <a:xfrm>
            <a:off x="457200" y="1097280"/>
            <a:ext cx="10972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666666"/>
                </a:solidFill>
                <a:latin typeface="Calibri"/>
              </a:rPr>
              <a:t>Probamos a ajustar los parámetros del Random Forest para ver si podemos mejorarlo.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Rectangle 7"/>
          <p:cNvSpPr/>
          <p:nvPr/>
        </p:nvSpPr>
        <p:spPr>
          <a:xfrm>
            <a:off x="457200" y="1645920"/>
            <a:ext cx="5028840" cy="274284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1" name="TextBox 8"/>
          <p:cNvSpPr/>
          <p:nvPr/>
        </p:nvSpPr>
        <p:spPr>
          <a:xfrm>
            <a:off x="731520" y="1737360"/>
            <a:ext cx="45716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1b3a5c"/>
                </a:solidFill>
                <a:latin typeface="Calibri"/>
              </a:rPr>
              <a:t>🔍  </a:t>
            </a:r>
            <a:r>
              <a:rPr b="1" lang="en-US" sz="2000" spc="-1" strike="noStrike">
                <a:solidFill>
                  <a:srgbClr val="1b3a5c"/>
                </a:solidFill>
                <a:latin typeface="Calibri"/>
              </a:rPr>
              <a:t>Cómo lo hicimos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Box 9"/>
          <p:cNvSpPr/>
          <p:nvPr/>
        </p:nvSpPr>
        <p:spPr>
          <a:xfrm>
            <a:off x="457200" y="2103120"/>
            <a:ext cx="494280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457200">
              <a:lnSpc>
                <a:spcPct val="100000"/>
              </a:lnSpc>
              <a:spcAft>
                <a:spcPts val="601"/>
              </a:spcAft>
              <a:buClr>
                <a:srgbClr val="333333"/>
              </a:buClr>
              <a:buSzPct val="6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333333"/>
                </a:solidFill>
                <a:latin typeface="Calibri"/>
              </a:rPr>
              <a:t>RandomizedSearchCV: prueba 25 combinaciones de 432 posibles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Aft>
                <a:spcPts val="601"/>
              </a:spcAft>
              <a:buClr>
                <a:srgbClr val="333333"/>
              </a:buClr>
              <a:buSzPct val="6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333333"/>
                </a:solidFill>
                <a:latin typeface="Calibri"/>
              </a:rPr>
              <a:t>3 validaciones cruzadas cada una → 75 entrenamientos en total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Aft>
                <a:spcPts val="601"/>
              </a:spcAft>
              <a:buClr>
                <a:srgbClr val="333333"/>
              </a:buClr>
              <a:buSzPct val="6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333333"/>
                </a:solidFill>
                <a:latin typeface="Calibri"/>
              </a:rPr>
              <a:t>Parámetros usados: profundidad, número de árboles, muestras mínimas, etc.</a:t>
            </a:r>
            <a:br>
              <a:rPr sz="1400"/>
            </a:br>
            <a:r>
              <a:rPr b="0" lang="en-US" sz="1400" spc="-1" strike="noStrike">
                <a:solidFill>
                  <a:srgbClr val="333333"/>
                </a:solidFill>
                <a:latin typeface="Calibri"/>
              </a:rPr>
              <a:t> 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Rectangle 10"/>
          <p:cNvSpPr/>
          <p:nvPr/>
        </p:nvSpPr>
        <p:spPr>
          <a:xfrm>
            <a:off x="5943600" y="1645920"/>
            <a:ext cx="5760360" cy="274284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4" name="TextBox 11"/>
          <p:cNvSpPr/>
          <p:nvPr/>
        </p:nvSpPr>
        <p:spPr>
          <a:xfrm>
            <a:off x="6217920" y="1737360"/>
            <a:ext cx="50288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1b3a5c"/>
                </a:solidFill>
                <a:latin typeface="Calibri"/>
              </a:rPr>
              <a:t>📊  </a:t>
            </a:r>
            <a:r>
              <a:rPr b="1" lang="en-US" sz="2000" spc="-1" strike="noStrike">
                <a:solidFill>
                  <a:srgbClr val="1b3a5c"/>
                </a:solidFill>
                <a:latin typeface="Calibri"/>
              </a:rPr>
              <a:t>Resultados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Box 12"/>
          <p:cNvSpPr/>
          <p:nvPr/>
        </p:nvSpPr>
        <p:spPr>
          <a:xfrm>
            <a:off x="6217920" y="2194560"/>
            <a:ext cx="5028840" cy="10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700" spc="-1" strike="noStrike">
                <a:solidFill>
                  <a:srgbClr val="333333"/>
                </a:solidFill>
                <a:latin typeface="Calibri"/>
              </a:rPr>
              <a:t>  </a:t>
            </a:r>
            <a:r>
              <a:rPr b="0" lang="en-US" sz="1700" spc="-1" strike="noStrike">
                <a:solidFill>
                  <a:srgbClr val="333333"/>
                </a:solidFill>
                <a:latin typeface="Calibri"/>
              </a:rPr>
              <a:t>RMSE: $29.724  (antes $29.102)</a:t>
            </a:r>
            <a:endParaRPr b="0" lang="es-ES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700" spc="-1" strike="noStrike">
                <a:solidFill>
                  <a:srgbClr val="333333"/>
                </a:solidFill>
                <a:latin typeface="Calibri"/>
              </a:rPr>
              <a:t>  </a:t>
            </a:r>
            <a:r>
              <a:rPr b="0" lang="en-US" sz="1700" spc="-1" strike="noStrike">
                <a:solidFill>
                  <a:srgbClr val="333333"/>
                </a:solidFill>
                <a:latin typeface="Calibri"/>
              </a:rPr>
              <a:t>MAE:  $19.331  (antes $19.067)</a:t>
            </a:r>
            <a:endParaRPr b="0" lang="es-ES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700" spc="-1" strike="noStrike">
                <a:solidFill>
                  <a:srgbClr val="333333"/>
                </a:solidFill>
                <a:latin typeface="Calibri"/>
              </a:rPr>
              <a:t>  </a:t>
            </a:r>
            <a:r>
              <a:rPr b="0" lang="en-US" sz="1700" spc="-1" strike="noStrike">
                <a:solidFill>
                  <a:srgbClr val="333333"/>
                </a:solidFill>
                <a:latin typeface="Calibri"/>
              </a:rPr>
              <a:t>R²:   0.8848   (antes 0.8896)</a:t>
            </a:r>
            <a:endParaRPr b="0" lang="es-E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Rectangle 13"/>
          <p:cNvSpPr/>
          <p:nvPr/>
        </p:nvSpPr>
        <p:spPr>
          <a:xfrm>
            <a:off x="6217920" y="3749040"/>
            <a:ext cx="5028840" cy="456840"/>
          </a:xfrm>
          <a:prstGeom prst="rect">
            <a:avLst/>
          </a:prstGeom>
          <a:solidFill>
            <a:srgbClr val="fce4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7" name="TextBox 14"/>
          <p:cNvSpPr/>
          <p:nvPr/>
        </p:nvSpPr>
        <p:spPr>
          <a:xfrm>
            <a:off x="6400800" y="3794760"/>
            <a:ext cx="45716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cc6600"/>
                </a:solidFill>
                <a:latin typeface="Calibri"/>
              </a:rPr>
              <a:t>⚠️  </a:t>
            </a:r>
            <a:r>
              <a:rPr b="1" lang="en-US" sz="1600" spc="-1" strike="noStrike">
                <a:solidFill>
                  <a:srgbClr val="cc6600"/>
                </a:solidFill>
                <a:latin typeface="Calibri"/>
              </a:rPr>
              <a:t>El modelo por defecto funcionó mejor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Rectangle 15"/>
          <p:cNvSpPr/>
          <p:nvPr/>
        </p:nvSpPr>
        <p:spPr>
          <a:xfrm>
            <a:off x="457200" y="4754880"/>
            <a:ext cx="11246760" cy="146268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9" name="TextBox 16"/>
          <p:cNvSpPr/>
          <p:nvPr/>
        </p:nvSpPr>
        <p:spPr>
          <a:xfrm>
            <a:off x="731520" y="4846320"/>
            <a:ext cx="10972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1b3a5c"/>
                </a:solidFill>
                <a:latin typeface="Calibri"/>
              </a:rPr>
              <a:t>💡  </a:t>
            </a:r>
            <a:r>
              <a:rPr b="1" lang="en-US" sz="1800" spc="-1" strike="noStrike">
                <a:solidFill>
                  <a:srgbClr val="1b3a5c"/>
                </a:solidFill>
                <a:latin typeface="Calibri"/>
              </a:rPr>
              <a:t>¿Qué aprendimos?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Box 17"/>
          <p:cNvSpPr/>
          <p:nvPr/>
        </p:nvSpPr>
        <p:spPr>
          <a:xfrm>
            <a:off x="731520" y="5212080"/>
            <a:ext cx="1097244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No siempre hace falta complicarse. El modelo por defecto ya era muy bueno.</a:t>
            </a:r>
            <a:br>
              <a:rPr sz="1600"/>
            </a:b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A veces, con lo básico bien hecho, se consiguen resultados excelentes.</a:t>
            </a:r>
            <a:br>
              <a:rPr sz="1600"/>
            </a:b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Rectangle 1"/>
          <p:cNvSpPr/>
          <p:nvPr/>
        </p:nvSpPr>
        <p:spPr>
          <a:xfrm>
            <a:off x="0" y="0"/>
            <a:ext cx="12191400" cy="100548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2" name="TextBox 2"/>
          <p:cNvSpPr/>
          <p:nvPr/>
        </p:nvSpPr>
        <p:spPr>
          <a:xfrm>
            <a:off x="548640" y="137160"/>
            <a:ext cx="109724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⚖️  </a:t>
            </a: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Comparativa: Baseline vs Tuned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Rectangle 3"/>
          <p:cNvSpPr/>
          <p:nvPr/>
        </p:nvSpPr>
        <p:spPr>
          <a:xfrm>
            <a:off x="0" y="1005840"/>
            <a:ext cx="12191400" cy="54360"/>
          </a:xfrm>
          <a:prstGeom prst="rect">
            <a:avLst/>
          </a:prstGeom>
          <a:solidFill>
            <a:srgbClr val="e88d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4" name="Rectangle 4"/>
          <p:cNvSpPr/>
          <p:nvPr/>
        </p:nvSpPr>
        <p:spPr>
          <a:xfrm>
            <a:off x="0" y="6492240"/>
            <a:ext cx="12191400" cy="36540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5" name="TextBox 5"/>
          <p:cNvSpPr/>
          <p:nvPr/>
        </p:nvSpPr>
        <p:spPr>
          <a:xfrm>
            <a:off x="457200" y="6510600"/>
            <a:ext cx="109724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House Price Prediction  ·  AI Foundations URV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26" name="Table 6"/>
          <p:cNvGraphicFramePr/>
          <p:nvPr/>
        </p:nvGraphicFramePr>
        <p:xfrm>
          <a:off x="2286000" y="1645920"/>
          <a:ext cx="7589160" cy="2560320"/>
        </p:xfrm>
        <a:graphic>
          <a:graphicData uri="http://schemas.openxmlformats.org/drawingml/2006/table">
            <a:tbl>
              <a:tblPr/>
              <a:tblGrid>
                <a:gridCol w="1828800"/>
                <a:gridCol w="1920240"/>
                <a:gridCol w="1920240"/>
                <a:gridCol w="1920240"/>
              </a:tblGrid>
              <a:tr h="64008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Métrica</a:t>
                      </a:r>
                      <a:endParaRPr b="0" lang="es-E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Baseline</a:t>
                      </a:r>
                      <a:endParaRPr b="0" lang="es-E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Tuned</a:t>
                      </a:r>
                      <a:endParaRPr b="0" lang="es-E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¿Mejoró?</a:t>
                      </a:r>
                      <a:endParaRPr b="0" lang="es-E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</a:tr>
              <a:tr h="64008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RMSE</a:t>
                      </a:r>
                      <a:endParaRPr b="0" lang="es-E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$29.102</a:t>
                      </a:r>
                      <a:endParaRPr b="0" lang="es-E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$29.724</a:t>
                      </a:r>
                      <a:endParaRPr b="0" lang="es-E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❌  </a:t>
                      </a:r>
                      <a:r>
                        <a:rPr b="0" lang="en-US" sz="18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No</a:t>
                      </a:r>
                      <a:endParaRPr b="0" lang="es-E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4f8"/>
                    </a:solidFill>
                  </a:tcPr>
                </a:tc>
              </a:tr>
              <a:tr h="64008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MAE</a:t>
                      </a:r>
                      <a:endParaRPr b="0" lang="es-E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$19.067</a:t>
                      </a:r>
                      <a:endParaRPr b="0" lang="es-E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$19.331</a:t>
                      </a:r>
                      <a:endParaRPr b="0" lang="es-E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❌  </a:t>
                      </a:r>
                      <a:r>
                        <a:rPr b="0" lang="en-US" sz="18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No</a:t>
                      </a:r>
                      <a:endParaRPr b="0" lang="es-E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R²</a:t>
                      </a:r>
                      <a:endParaRPr b="0" lang="es-E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0.8896</a:t>
                      </a:r>
                      <a:endParaRPr b="0" lang="es-E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0.8848</a:t>
                      </a:r>
                      <a:endParaRPr b="0" lang="es-E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❌  </a:t>
                      </a:r>
                      <a:r>
                        <a:rPr b="0" lang="en-US" sz="18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No</a:t>
                      </a:r>
                      <a:endParaRPr b="0" lang="es-E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227" name="TextBox 7"/>
          <p:cNvSpPr/>
          <p:nvPr/>
        </p:nvSpPr>
        <p:spPr>
          <a:xfrm>
            <a:off x="1828800" y="4480560"/>
            <a:ext cx="8229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2c5f8a"/>
                </a:solidFill>
                <a:latin typeface="Calibri"/>
              </a:rPr>
              <a:t>El modelo baseline con valores por defecto es suficiente y más robusto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Rectangle 8"/>
          <p:cNvSpPr/>
          <p:nvPr/>
        </p:nvSpPr>
        <p:spPr>
          <a:xfrm>
            <a:off x="457200" y="4846320"/>
            <a:ext cx="11246760" cy="137124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9" name="TextBox 9"/>
          <p:cNvSpPr/>
          <p:nvPr/>
        </p:nvSpPr>
        <p:spPr>
          <a:xfrm>
            <a:off x="731520" y="4937760"/>
            <a:ext cx="10972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1b3a5c"/>
                </a:solidFill>
                <a:latin typeface="Calibri"/>
              </a:rPr>
              <a:t>🎯  </a:t>
            </a:r>
            <a:r>
              <a:rPr b="1" lang="en-US" sz="1800" spc="-1" strike="noStrike">
                <a:solidFill>
                  <a:srgbClr val="1b3a5c"/>
                </a:solidFill>
                <a:latin typeface="Calibri"/>
              </a:rPr>
              <a:t>Conclusión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Box 10"/>
          <p:cNvSpPr/>
          <p:nvPr/>
        </p:nvSpPr>
        <p:spPr>
          <a:xfrm>
            <a:off x="731520" y="5303520"/>
            <a:ext cx="109724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Para este proyecto, con lo básico bien hecho obtenemos un resultado sólido.</a:t>
            </a:r>
            <a:br>
              <a:rPr sz="1600"/>
            </a:b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En el futuro podríamos probar otros modelos (XGBoost, Gradient Boosting) para intentar mejorarlo.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Rectangle 1"/>
          <p:cNvSpPr/>
          <p:nvPr/>
        </p:nvSpPr>
        <p:spPr>
          <a:xfrm>
            <a:off x="0" y="0"/>
            <a:ext cx="12191400" cy="100548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2" name="TextBox 2"/>
          <p:cNvSpPr/>
          <p:nvPr/>
        </p:nvSpPr>
        <p:spPr>
          <a:xfrm>
            <a:off x="548640" y="137160"/>
            <a:ext cx="109724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🌐  </a:t>
            </a: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La app en Streamlit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Rectangle 3"/>
          <p:cNvSpPr/>
          <p:nvPr/>
        </p:nvSpPr>
        <p:spPr>
          <a:xfrm>
            <a:off x="0" y="1005840"/>
            <a:ext cx="12191400" cy="54360"/>
          </a:xfrm>
          <a:prstGeom prst="rect">
            <a:avLst/>
          </a:prstGeom>
          <a:solidFill>
            <a:srgbClr val="e88d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4" name="Rectangle 4"/>
          <p:cNvSpPr/>
          <p:nvPr/>
        </p:nvSpPr>
        <p:spPr>
          <a:xfrm>
            <a:off x="0" y="6492240"/>
            <a:ext cx="12191400" cy="36540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5" name="TextBox 5"/>
          <p:cNvSpPr/>
          <p:nvPr/>
        </p:nvSpPr>
        <p:spPr>
          <a:xfrm>
            <a:off x="457200" y="6510600"/>
            <a:ext cx="109724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House Price Prediction  ·  AI Foundations URV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6" name="Picture 6" descr="app_screenshot.png"/>
          <p:cNvPicPr/>
          <p:nvPr/>
        </p:nvPicPr>
        <p:blipFill>
          <a:blip r:embed="rId1"/>
          <a:stretch/>
        </p:blipFill>
        <p:spPr>
          <a:xfrm>
            <a:off x="457200" y="1188720"/>
            <a:ext cx="7102800" cy="5271840"/>
          </a:xfrm>
          <a:prstGeom prst="rect">
            <a:avLst/>
          </a:prstGeom>
          <a:ln w="0">
            <a:noFill/>
          </a:ln>
        </p:spPr>
      </p:pic>
      <p:sp>
        <p:nvSpPr>
          <p:cNvPr id="237" name="Rectangle 7"/>
          <p:cNvSpPr/>
          <p:nvPr/>
        </p:nvSpPr>
        <p:spPr>
          <a:xfrm>
            <a:off x="7740000" y="1332720"/>
            <a:ext cx="3963960" cy="228564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8" name="TextBox 8"/>
          <p:cNvSpPr/>
          <p:nvPr/>
        </p:nvSpPr>
        <p:spPr>
          <a:xfrm>
            <a:off x="8412480" y="1460160"/>
            <a:ext cx="3108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1b3a5c"/>
                </a:solidFill>
                <a:latin typeface="Calibri"/>
              </a:rPr>
              <a:t>✨  </a:t>
            </a:r>
            <a:r>
              <a:rPr b="1" lang="en-US" sz="1800" spc="-1" strike="noStrike">
                <a:solidFill>
                  <a:srgbClr val="1b3a5c"/>
                </a:solidFill>
                <a:latin typeface="Calibri"/>
              </a:rPr>
              <a:t>Características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Box 9"/>
          <p:cNvSpPr/>
          <p:nvPr/>
        </p:nvSpPr>
        <p:spPr>
          <a:xfrm>
            <a:off x="8412480" y="1789920"/>
            <a:ext cx="3108600" cy="12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333333"/>
                </a:solidFill>
                <a:latin typeface="Calibri"/>
              </a:rPr>
              <a:t>Interfaz sencilla e intuitiva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333333"/>
                </a:solidFill>
                <a:latin typeface="Calibri"/>
              </a:rPr>
              <a:t>Ajusta las 6 variables clave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333333"/>
                </a:solidFill>
                <a:latin typeface="Calibri"/>
              </a:rPr>
              <a:t>Predicción al instante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333333"/>
                </a:solidFill>
                <a:latin typeface="Calibri"/>
              </a:rPr>
              <a:t>Sin instalar nada en tu PC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Rectangle 10"/>
          <p:cNvSpPr/>
          <p:nvPr/>
        </p:nvSpPr>
        <p:spPr>
          <a:xfrm>
            <a:off x="7740000" y="3909600"/>
            <a:ext cx="3963960" cy="228564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1" name="TextBox 11"/>
          <p:cNvSpPr/>
          <p:nvPr/>
        </p:nvSpPr>
        <p:spPr>
          <a:xfrm>
            <a:off x="8412480" y="4001040"/>
            <a:ext cx="3108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1b3a5c"/>
                </a:solidFill>
                <a:latin typeface="Calibri"/>
              </a:rPr>
              <a:t>🔗  </a:t>
            </a:r>
            <a:r>
              <a:rPr b="1" lang="en-US" sz="1800" spc="-1" strike="noStrike">
                <a:solidFill>
                  <a:srgbClr val="1b3a5c"/>
                </a:solidFill>
                <a:latin typeface="Calibri"/>
              </a:rPr>
              <a:t>Acceso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Box 12"/>
          <p:cNvSpPr/>
          <p:nvPr/>
        </p:nvSpPr>
        <p:spPr>
          <a:xfrm>
            <a:off x="7740000" y="4366800"/>
            <a:ext cx="396000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Disponible online en:</a:t>
            </a:r>
            <a:br>
              <a:rPr sz="1400"/>
            </a:b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house-prices-v3nrejcyjltytdctev9hgk.streamlit.app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Rectangle 13"/>
          <p:cNvSpPr/>
          <p:nvPr/>
        </p:nvSpPr>
        <p:spPr>
          <a:xfrm>
            <a:off x="457200" y="4572000"/>
            <a:ext cx="7102800" cy="164556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4" name="TextBox 14"/>
          <p:cNvSpPr/>
          <p:nvPr/>
        </p:nvSpPr>
        <p:spPr>
          <a:xfrm>
            <a:off x="731520" y="4663440"/>
            <a:ext cx="6857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1b3a5c"/>
                </a:solidFill>
                <a:latin typeface="Calibri"/>
              </a:rPr>
              <a:t>📱  </a:t>
            </a:r>
            <a:r>
              <a:rPr b="1" lang="en-US" sz="1800" spc="-1" strike="noStrike">
                <a:solidFill>
                  <a:srgbClr val="1b3a5c"/>
                </a:solidFill>
                <a:latin typeface="Calibri"/>
              </a:rPr>
              <a:t>Pruébalo tú mismo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Box 15"/>
          <p:cNvSpPr/>
          <p:nvPr/>
        </p:nvSpPr>
        <p:spPr>
          <a:xfrm>
            <a:off x="731520" y="5029200"/>
            <a:ext cx="68576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Mueve los deslizadores de calidad, metros cuadrados, garaje...</a:t>
            </a:r>
            <a:br>
              <a:rPr sz="1600"/>
            </a:b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y el precio se actualiza automáticamente. Así de fácil.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Rectangle 1"/>
          <p:cNvSpPr/>
          <p:nvPr/>
        </p:nvSpPr>
        <p:spPr>
          <a:xfrm>
            <a:off x="0" y="0"/>
            <a:ext cx="12191400" cy="100548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7" name="TextBox 2"/>
          <p:cNvSpPr/>
          <p:nvPr/>
        </p:nvSpPr>
        <p:spPr>
          <a:xfrm>
            <a:off x="548640" y="137160"/>
            <a:ext cx="109724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🏗️  </a:t>
            </a: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El pipeline completo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Rectangle 3"/>
          <p:cNvSpPr/>
          <p:nvPr/>
        </p:nvSpPr>
        <p:spPr>
          <a:xfrm>
            <a:off x="0" y="1005840"/>
            <a:ext cx="12191400" cy="54360"/>
          </a:xfrm>
          <a:prstGeom prst="rect">
            <a:avLst/>
          </a:prstGeom>
          <a:solidFill>
            <a:srgbClr val="e88d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9" name="Rectangle 4"/>
          <p:cNvSpPr/>
          <p:nvPr/>
        </p:nvSpPr>
        <p:spPr>
          <a:xfrm>
            <a:off x="0" y="6492240"/>
            <a:ext cx="12191400" cy="36540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0" name="TextBox 5"/>
          <p:cNvSpPr/>
          <p:nvPr/>
        </p:nvSpPr>
        <p:spPr>
          <a:xfrm>
            <a:off x="457200" y="6510600"/>
            <a:ext cx="109724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House Price Prediction  ·  AI Foundations URV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Rectangle 6"/>
          <p:cNvSpPr/>
          <p:nvPr/>
        </p:nvSpPr>
        <p:spPr>
          <a:xfrm>
            <a:off x="457200" y="1280160"/>
            <a:ext cx="2011320" cy="255996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2" name="Rectangle 7"/>
          <p:cNvSpPr/>
          <p:nvPr/>
        </p:nvSpPr>
        <p:spPr>
          <a:xfrm>
            <a:off x="457200" y="1280160"/>
            <a:ext cx="2011320" cy="5436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3" name="TextBox 8"/>
          <p:cNvSpPr/>
          <p:nvPr/>
        </p:nvSpPr>
        <p:spPr>
          <a:xfrm>
            <a:off x="457200" y="1463040"/>
            <a:ext cx="20113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3600" spc="-1" strike="noStrike">
                <a:solidFill>
                  <a:srgbClr val="333333"/>
                </a:solidFill>
                <a:latin typeface="Calibri"/>
              </a:rPr>
              <a:t>📊</a:t>
            </a:r>
            <a:endParaRPr b="0" lang="es-E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Box 9"/>
          <p:cNvSpPr/>
          <p:nvPr/>
        </p:nvSpPr>
        <p:spPr>
          <a:xfrm>
            <a:off x="457200" y="2011680"/>
            <a:ext cx="2011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1b3a5c"/>
                </a:solidFill>
                <a:latin typeface="Calibri"/>
              </a:rPr>
              <a:t>EDA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Box 10"/>
          <p:cNvSpPr/>
          <p:nvPr/>
        </p:nvSpPr>
        <p:spPr>
          <a:xfrm>
            <a:off x="457200" y="2377440"/>
            <a:ext cx="20113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Análisis de </a:t>
            </a:r>
            <a:br>
              <a:rPr sz="1400"/>
            </a:b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los datos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Box 11"/>
          <p:cNvSpPr/>
          <p:nvPr/>
        </p:nvSpPr>
        <p:spPr>
          <a:xfrm>
            <a:off x="2494440" y="2103120"/>
            <a:ext cx="2739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e88d2a"/>
                </a:solidFill>
                <a:latin typeface="Calibri"/>
              </a:rPr>
              <a:t>→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Rectangle 12"/>
          <p:cNvSpPr/>
          <p:nvPr/>
        </p:nvSpPr>
        <p:spPr>
          <a:xfrm>
            <a:off x="2651760" y="1280160"/>
            <a:ext cx="2011320" cy="255996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8" name="Rectangle 13"/>
          <p:cNvSpPr/>
          <p:nvPr/>
        </p:nvSpPr>
        <p:spPr>
          <a:xfrm>
            <a:off x="2651760" y="1280160"/>
            <a:ext cx="2011320" cy="54360"/>
          </a:xfrm>
          <a:prstGeom prst="rect">
            <a:avLst/>
          </a:prstGeom>
          <a:solidFill>
            <a:srgbClr val="2c5f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9" name="TextBox 14"/>
          <p:cNvSpPr/>
          <p:nvPr/>
        </p:nvSpPr>
        <p:spPr>
          <a:xfrm>
            <a:off x="2651760" y="1463040"/>
            <a:ext cx="20113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3600" spc="-1" strike="noStrike">
                <a:solidFill>
                  <a:srgbClr val="333333"/>
                </a:solidFill>
                <a:latin typeface="Calibri"/>
              </a:rPr>
              <a:t>🧹</a:t>
            </a:r>
            <a:endParaRPr b="0" lang="es-E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Box 15"/>
          <p:cNvSpPr/>
          <p:nvPr/>
        </p:nvSpPr>
        <p:spPr>
          <a:xfrm>
            <a:off x="2651760" y="2011680"/>
            <a:ext cx="2011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2c5f8a"/>
                </a:solidFill>
                <a:latin typeface="Calibri"/>
              </a:rPr>
              <a:t>Limpieza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Box 16"/>
          <p:cNvSpPr/>
          <p:nvPr/>
        </p:nvSpPr>
        <p:spPr>
          <a:xfrm>
            <a:off x="2651760" y="2377440"/>
            <a:ext cx="20113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Rellenar huecos</a:t>
            </a:r>
            <a:br>
              <a:rPr sz="1400"/>
            </a:b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y estandarizar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Box 17"/>
          <p:cNvSpPr/>
          <p:nvPr/>
        </p:nvSpPr>
        <p:spPr>
          <a:xfrm>
            <a:off x="4689000" y="2103120"/>
            <a:ext cx="2739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e88d2a"/>
                </a:solidFill>
                <a:latin typeface="Calibri"/>
              </a:rPr>
              <a:t>→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Rectangle 18"/>
          <p:cNvSpPr/>
          <p:nvPr/>
        </p:nvSpPr>
        <p:spPr>
          <a:xfrm>
            <a:off x="4846320" y="1280160"/>
            <a:ext cx="2011320" cy="255996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4" name="Rectangle 19"/>
          <p:cNvSpPr/>
          <p:nvPr/>
        </p:nvSpPr>
        <p:spPr>
          <a:xfrm>
            <a:off x="4846320" y="1280160"/>
            <a:ext cx="2011320" cy="5436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5" name="TextBox 20"/>
          <p:cNvSpPr/>
          <p:nvPr/>
        </p:nvSpPr>
        <p:spPr>
          <a:xfrm>
            <a:off x="4846320" y="1463040"/>
            <a:ext cx="20113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3600" spc="-1" strike="noStrike">
                <a:solidFill>
                  <a:srgbClr val="333333"/>
                </a:solidFill>
                <a:latin typeface="Calibri"/>
              </a:rPr>
              <a:t>✨</a:t>
            </a:r>
            <a:endParaRPr b="0" lang="es-E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Box 21"/>
          <p:cNvSpPr/>
          <p:nvPr/>
        </p:nvSpPr>
        <p:spPr>
          <a:xfrm>
            <a:off x="4846320" y="2011680"/>
            <a:ext cx="2011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1b3a5c"/>
                </a:solidFill>
                <a:latin typeface="Calibri"/>
              </a:rPr>
              <a:t>Selección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Box 22"/>
          <p:cNvSpPr/>
          <p:nvPr/>
        </p:nvSpPr>
        <p:spPr>
          <a:xfrm>
            <a:off x="4846320" y="2377440"/>
            <a:ext cx="20113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Elegir las</a:t>
            </a:r>
            <a:br>
              <a:rPr sz="1400"/>
            </a:b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6 mejores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Box 23"/>
          <p:cNvSpPr/>
          <p:nvPr/>
        </p:nvSpPr>
        <p:spPr>
          <a:xfrm>
            <a:off x="6883560" y="2103120"/>
            <a:ext cx="2739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e88d2a"/>
                </a:solidFill>
                <a:latin typeface="Calibri"/>
              </a:rPr>
              <a:t>→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Rectangle 24"/>
          <p:cNvSpPr/>
          <p:nvPr/>
        </p:nvSpPr>
        <p:spPr>
          <a:xfrm>
            <a:off x="7040880" y="1280160"/>
            <a:ext cx="2011320" cy="255996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0" name="Rectangle 25"/>
          <p:cNvSpPr/>
          <p:nvPr/>
        </p:nvSpPr>
        <p:spPr>
          <a:xfrm>
            <a:off x="7040880" y="1280160"/>
            <a:ext cx="2011320" cy="54360"/>
          </a:xfrm>
          <a:prstGeom prst="rect">
            <a:avLst/>
          </a:prstGeom>
          <a:solidFill>
            <a:srgbClr val="2c5f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1" name="TextBox 26"/>
          <p:cNvSpPr/>
          <p:nvPr/>
        </p:nvSpPr>
        <p:spPr>
          <a:xfrm>
            <a:off x="7040880" y="1463040"/>
            <a:ext cx="20113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3600" spc="-1" strike="noStrike">
                <a:solidFill>
                  <a:srgbClr val="333333"/>
                </a:solidFill>
                <a:latin typeface="Calibri"/>
              </a:rPr>
              <a:t>🤖</a:t>
            </a:r>
            <a:endParaRPr b="0" lang="es-E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Box 27"/>
          <p:cNvSpPr/>
          <p:nvPr/>
        </p:nvSpPr>
        <p:spPr>
          <a:xfrm>
            <a:off x="7040880" y="2011680"/>
            <a:ext cx="2011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2c5f8a"/>
                </a:solidFill>
                <a:latin typeface="Calibri"/>
              </a:rPr>
              <a:t>Modelo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TextBox 28"/>
          <p:cNvSpPr/>
          <p:nvPr/>
        </p:nvSpPr>
        <p:spPr>
          <a:xfrm>
            <a:off x="7040880" y="2377440"/>
            <a:ext cx="20113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Random Forest</a:t>
            </a:r>
            <a:br>
              <a:rPr sz="1400"/>
            </a:b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entrenado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TextBox 29"/>
          <p:cNvSpPr/>
          <p:nvPr/>
        </p:nvSpPr>
        <p:spPr>
          <a:xfrm>
            <a:off x="9078120" y="2103120"/>
            <a:ext cx="2739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e88d2a"/>
                </a:solidFill>
                <a:latin typeface="Calibri"/>
              </a:rPr>
              <a:t>→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Rectangle 30"/>
          <p:cNvSpPr/>
          <p:nvPr/>
        </p:nvSpPr>
        <p:spPr>
          <a:xfrm>
            <a:off x="9235440" y="1280160"/>
            <a:ext cx="2011320" cy="255996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6" name="Rectangle 31"/>
          <p:cNvSpPr/>
          <p:nvPr/>
        </p:nvSpPr>
        <p:spPr>
          <a:xfrm>
            <a:off x="9235440" y="1280160"/>
            <a:ext cx="2011320" cy="5436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7" name="TextBox 32"/>
          <p:cNvSpPr/>
          <p:nvPr/>
        </p:nvSpPr>
        <p:spPr>
          <a:xfrm>
            <a:off x="9235440" y="1463040"/>
            <a:ext cx="20113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3600" spc="-1" strike="noStrike">
                <a:solidFill>
                  <a:srgbClr val="333333"/>
                </a:solidFill>
                <a:latin typeface="Calibri"/>
              </a:rPr>
              <a:t>🌐</a:t>
            </a:r>
            <a:endParaRPr b="0" lang="es-E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Box 33"/>
          <p:cNvSpPr/>
          <p:nvPr/>
        </p:nvSpPr>
        <p:spPr>
          <a:xfrm>
            <a:off x="9235440" y="2011680"/>
            <a:ext cx="2011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1b3a5c"/>
                </a:solidFill>
                <a:latin typeface="Calibri"/>
              </a:rPr>
              <a:t>App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Box 34"/>
          <p:cNvSpPr/>
          <p:nvPr/>
        </p:nvSpPr>
        <p:spPr>
          <a:xfrm>
            <a:off x="9235440" y="2377440"/>
            <a:ext cx="20113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Predicción</a:t>
            </a:r>
            <a:br>
              <a:rPr sz="1400"/>
            </a:b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interactiva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Rectangle 35"/>
          <p:cNvSpPr/>
          <p:nvPr/>
        </p:nvSpPr>
        <p:spPr>
          <a:xfrm>
            <a:off x="457200" y="4114800"/>
            <a:ext cx="11246760" cy="210276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1" name="TextBox 36"/>
          <p:cNvSpPr/>
          <p:nvPr/>
        </p:nvSpPr>
        <p:spPr>
          <a:xfrm>
            <a:off x="731520" y="4160520"/>
            <a:ext cx="10972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1b3a5c"/>
                </a:solidFill>
                <a:latin typeface="Calibri"/>
              </a:rPr>
              <a:t>🖼️  </a:t>
            </a:r>
            <a:r>
              <a:rPr b="1" lang="en-US" sz="1800" spc="-1" strike="noStrike">
                <a:solidFill>
                  <a:srgbClr val="1b3a5c"/>
                </a:solidFill>
                <a:latin typeface="Calibri"/>
              </a:rPr>
              <a:t>Así se ven los datos en cada etapa: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2" name="Picture 37" descr="corr_heatmap.png"/>
          <p:cNvPicPr/>
          <p:nvPr/>
        </p:nvPicPr>
        <p:blipFill>
          <a:blip r:embed="rId1"/>
          <a:stretch/>
        </p:blipFill>
        <p:spPr>
          <a:xfrm>
            <a:off x="640080" y="4480560"/>
            <a:ext cx="1769760" cy="1554120"/>
          </a:xfrm>
          <a:prstGeom prst="rect">
            <a:avLst/>
          </a:prstGeom>
          <a:ln w="0">
            <a:noFill/>
          </a:ln>
        </p:spPr>
      </p:pic>
      <p:pic>
        <p:nvPicPr>
          <p:cNvPr id="283" name="Picture 38" descr="saleprice_hist.png"/>
          <p:cNvPicPr/>
          <p:nvPr/>
        </p:nvPicPr>
        <p:blipFill>
          <a:blip r:embed="rId2"/>
          <a:stretch/>
        </p:blipFill>
        <p:spPr>
          <a:xfrm>
            <a:off x="3383280" y="4480560"/>
            <a:ext cx="2346120" cy="1554120"/>
          </a:xfrm>
          <a:prstGeom prst="rect">
            <a:avLst/>
          </a:prstGeom>
          <a:ln w="0">
            <a:noFill/>
          </a:ln>
        </p:spPr>
      </p:pic>
      <p:pic>
        <p:nvPicPr>
          <p:cNvPr id="284" name="Picture 39" descr="outliers_boxplot.png"/>
          <p:cNvPicPr/>
          <p:nvPr/>
        </p:nvPicPr>
        <p:blipFill>
          <a:blip r:embed="rId3"/>
          <a:stretch/>
        </p:blipFill>
        <p:spPr>
          <a:xfrm>
            <a:off x="6126480" y="4480560"/>
            <a:ext cx="2874240" cy="1554120"/>
          </a:xfrm>
          <a:prstGeom prst="rect">
            <a:avLst/>
          </a:prstGeom>
          <a:ln w="0">
            <a:noFill/>
          </a:ln>
        </p:spPr>
      </p:pic>
      <p:pic>
        <p:nvPicPr>
          <p:cNvPr id="285" name="Picture 40" descr="app_screenshot.png"/>
          <p:cNvPicPr/>
          <p:nvPr/>
        </p:nvPicPr>
        <p:blipFill>
          <a:blip r:embed="rId4"/>
          <a:stretch/>
        </p:blipFill>
        <p:spPr>
          <a:xfrm>
            <a:off x="8869680" y="4480560"/>
            <a:ext cx="2210400" cy="1554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Rectangle 1"/>
          <p:cNvSpPr/>
          <p:nvPr/>
        </p:nvSpPr>
        <p:spPr>
          <a:xfrm>
            <a:off x="0" y="0"/>
            <a:ext cx="12191400" cy="100548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7" name="TextBox 2"/>
          <p:cNvSpPr/>
          <p:nvPr/>
        </p:nvSpPr>
        <p:spPr>
          <a:xfrm>
            <a:off x="548640" y="137160"/>
            <a:ext cx="109724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📖  </a:t>
            </a: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Qué aprendimos con este proyecto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Rectangle 3"/>
          <p:cNvSpPr/>
          <p:nvPr/>
        </p:nvSpPr>
        <p:spPr>
          <a:xfrm>
            <a:off x="0" y="1005840"/>
            <a:ext cx="12191400" cy="54360"/>
          </a:xfrm>
          <a:prstGeom prst="rect">
            <a:avLst/>
          </a:prstGeom>
          <a:solidFill>
            <a:srgbClr val="e88d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9" name="Rectangle 4"/>
          <p:cNvSpPr/>
          <p:nvPr/>
        </p:nvSpPr>
        <p:spPr>
          <a:xfrm>
            <a:off x="0" y="6492240"/>
            <a:ext cx="12191400" cy="36540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0" name="TextBox 5"/>
          <p:cNvSpPr/>
          <p:nvPr/>
        </p:nvSpPr>
        <p:spPr>
          <a:xfrm>
            <a:off x="457200" y="6510600"/>
            <a:ext cx="109724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House Price Prediction  ·  AI Foundations URV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Rectangle 6"/>
          <p:cNvSpPr/>
          <p:nvPr/>
        </p:nvSpPr>
        <p:spPr>
          <a:xfrm>
            <a:off x="457200" y="1188720"/>
            <a:ext cx="11246760" cy="91404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2" name="Rectangle 7"/>
          <p:cNvSpPr/>
          <p:nvPr/>
        </p:nvSpPr>
        <p:spPr>
          <a:xfrm>
            <a:off x="457200" y="1188720"/>
            <a:ext cx="72720" cy="914040"/>
          </a:xfrm>
          <a:prstGeom prst="rect">
            <a:avLst/>
          </a:prstGeom>
          <a:solidFill>
            <a:srgbClr val="2c5f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3" name="TextBox 8"/>
          <p:cNvSpPr/>
          <p:nvPr/>
        </p:nvSpPr>
        <p:spPr>
          <a:xfrm>
            <a:off x="731520" y="1280160"/>
            <a:ext cx="1051524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pc="-1" strike="noStrike">
                <a:solidFill>
                  <a:srgbClr val="1b3a5c"/>
                </a:solidFill>
                <a:latin typeface="Calibri"/>
              </a:rPr>
              <a:t>✅  </a:t>
            </a:r>
            <a:r>
              <a:rPr b="1" lang="en-US" sz="1900" spc="-1" strike="noStrike">
                <a:solidFill>
                  <a:srgbClr val="1b3a5c"/>
                </a:solidFill>
                <a:latin typeface="Calibri"/>
              </a:rPr>
              <a:t>R² de 0.89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TextBox 9"/>
          <p:cNvSpPr/>
          <p:nvPr/>
        </p:nvSpPr>
        <p:spPr>
          <a:xfrm>
            <a:off x="731520" y="1645920"/>
            <a:ext cx="105152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666666"/>
                </a:solidFill>
                <a:latin typeface="Calibri"/>
              </a:rPr>
              <a:t>Con solo 6 variables nuestro modelo acierta el 89% de la variación de precios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Rectangle 10"/>
          <p:cNvSpPr/>
          <p:nvPr/>
        </p:nvSpPr>
        <p:spPr>
          <a:xfrm>
            <a:off x="457200" y="2240280"/>
            <a:ext cx="11246760" cy="91404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6" name="Rectangle 11"/>
          <p:cNvSpPr/>
          <p:nvPr/>
        </p:nvSpPr>
        <p:spPr>
          <a:xfrm>
            <a:off x="457200" y="2240280"/>
            <a:ext cx="72720" cy="914040"/>
          </a:xfrm>
          <a:prstGeom prst="rect">
            <a:avLst/>
          </a:prstGeom>
          <a:solidFill>
            <a:srgbClr val="2c5f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7" name="TextBox 12"/>
          <p:cNvSpPr/>
          <p:nvPr/>
        </p:nvSpPr>
        <p:spPr>
          <a:xfrm>
            <a:off x="731520" y="2331720"/>
            <a:ext cx="1051524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pc="-1" strike="noStrike">
                <a:solidFill>
                  <a:srgbClr val="1b3a5c"/>
                </a:solidFill>
                <a:latin typeface="Calibri"/>
              </a:rPr>
              <a:t>✅  </a:t>
            </a:r>
            <a:r>
              <a:rPr b="1" lang="en-US" sz="1900" spc="-1" strike="noStrike">
                <a:solidFill>
                  <a:srgbClr val="1b3a5c"/>
                </a:solidFill>
                <a:latin typeface="Calibri"/>
              </a:rPr>
              <a:t>Pipeline completo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TextBox 13"/>
          <p:cNvSpPr/>
          <p:nvPr/>
        </p:nvSpPr>
        <p:spPr>
          <a:xfrm>
            <a:off x="731520" y="2697480"/>
            <a:ext cx="105152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666666"/>
                </a:solidFill>
                <a:latin typeface="Calibri"/>
              </a:rPr>
              <a:t>Aprendimos a hacer todo el proceso: desde los datos hasta una app funcionando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Rectangle 14"/>
          <p:cNvSpPr/>
          <p:nvPr/>
        </p:nvSpPr>
        <p:spPr>
          <a:xfrm>
            <a:off x="457200" y="3291840"/>
            <a:ext cx="11246760" cy="91404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0" name="Rectangle 15"/>
          <p:cNvSpPr/>
          <p:nvPr/>
        </p:nvSpPr>
        <p:spPr>
          <a:xfrm>
            <a:off x="457200" y="3291840"/>
            <a:ext cx="72720" cy="914040"/>
          </a:xfrm>
          <a:prstGeom prst="rect">
            <a:avLst/>
          </a:prstGeom>
          <a:solidFill>
            <a:srgbClr val="2c5f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1" name="TextBox 16"/>
          <p:cNvSpPr/>
          <p:nvPr/>
        </p:nvSpPr>
        <p:spPr>
          <a:xfrm>
            <a:off x="731520" y="3383280"/>
            <a:ext cx="1051524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pc="-1" strike="noStrike">
                <a:solidFill>
                  <a:srgbClr val="1b3a5c"/>
                </a:solidFill>
                <a:latin typeface="Calibri"/>
              </a:rPr>
              <a:t>✅  </a:t>
            </a:r>
            <a:r>
              <a:rPr b="1" lang="en-US" sz="1900" spc="-1" strike="noStrike">
                <a:solidFill>
                  <a:srgbClr val="1b3a5c"/>
                </a:solidFill>
                <a:latin typeface="Calibri"/>
              </a:rPr>
              <a:t>Un buen preprocesado marca la diferencia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TextBox 17"/>
          <p:cNvSpPr/>
          <p:nvPr/>
        </p:nvSpPr>
        <p:spPr>
          <a:xfrm>
            <a:off x="731520" y="3749040"/>
            <a:ext cx="105152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666666"/>
                </a:solidFill>
                <a:latin typeface="Calibri"/>
              </a:rPr>
              <a:t>Entender, limpiar y seleccionar los datos es tan importante como el modelo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Rectangle 18"/>
          <p:cNvSpPr/>
          <p:nvPr/>
        </p:nvSpPr>
        <p:spPr>
          <a:xfrm>
            <a:off x="457200" y="4343400"/>
            <a:ext cx="11246760" cy="91404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4" name="Rectangle 19"/>
          <p:cNvSpPr/>
          <p:nvPr/>
        </p:nvSpPr>
        <p:spPr>
          <a:xfrm>
            <a:off x="457200" y="4343400"/>
            <a:ext cx="72720" cy="914040"/>
          </a:xfrm>
          <a:prstGeom prst="rect">
            <a:avLst/>
          </a:prstGeom>
          <a:solidFill>
            <a:srgbClr val="2c5f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5" name="TextBox 20"/>
          <p:cNvSpPr/>
          <p:nvPr/>
        </p:nvSpPr>
        <p:spPr>
          <a:xfrm>
            <a:off x="731520" y="4434840"/>
            <a:ext cx="1051524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pc="-1" strike="noStrike">
                <a:solidFill>
                  <a:srgbClr val="1b3a5c"/>
                </a:solidFill>
                <a:latin typeface="Calibri"/>
              </a:rPr>
              <a:t>✅  </a:t>
            </a:r>
            <a:r>
              <a:rPr b="1" lang="en-US" sz="1900" spc="-1" strike="noStrike">
                <a:solidFill>
                  <a:srgbClr val="1b3a5c"/>
                </a:solidFill>
                <a:latin typeface="Calibri"/>
              </a:rPr>
              <a:t>La simplicidad también funciona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TextBox 21"/>
          <p:cNvSpPr/>
          <p:nvPr/>
        </p:nvSpPr>
        <p:spPr>
          <a:xfrm>
            <a:off x="731520" y="4800600"/>
            <a:ext cx="105152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666666"/>
                </a:solidFill>
                <a:latin typeface="Calibri"/>
              </a:rPr>
              <a:t>A veces el modelo inicial ya es suficientemente bueno: más complejidad no siempre significa mejores resultados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Rectangle 22"/>
          <p:cNvSpPr/>
          <p:nvPr/>
        </p:nvSpPr>
        <p:spPr>
          <a:xfrm>
            <a:off x="457200" y="5394960"/>
            <a:ext cx="11246760" cy="91404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8" name="Rectangle 23"/>
          <p:cNvSpPr/>
          <p:nvPr/>
        </p:nvSpPr>
        <p:spPr>
          <a:xfrm>
            <a:off x="457200" y="5394960"/>
            <a:ext cx="72720" cy="914040"/>
          </a:xfrm>
          <a:prstGeom prst="rect">
            <a:avLst/>
          </a:prstGeom>
          <a:solidFill>
            <a:srgbClr val="2c5f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9" name="TextBox 24"/>
          <p:cNvSpPr/>
          <p:nvPr/>
        </p:nvSpPr>
        <p:spPr>
          <a:xfrm>
            <a:off x="731520" y="5486400"/>
            <a:ext cx="1051524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pc="-1" strike="noStrike">
                <a:solidFill>
                  <a:srgbClr val="1b3a5c"/>
                </a:solidFill>
                <a:latin typeface="Calibri"/>
              </a:rPr>
              <a:t>🚀  </a:t>
            </a:r>
            <a:r>
              <a:rPr b="1" lang="en-US" sz="1900" spc="-1" strike="noStrike">
                <a:solidFill>
                  <a:srgbClr val="1b3a5c"/>
                </a:solidFill>
                <a:latin typeface="Calibri"/>
              </a:rPr>
              <a:t>Próximos pasos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TextBox 25"/>
          <p:cNvSpPr/>
          <p:nvPr/>
        </p:nvSpPr>
        <p:spPr>
          <a:xfrm>
            <a:off x="731520" y="5852160"/>
            <a:ext cx="105152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666666"/>
                </a:solidFill>
                <a:latin typeface="Calibri"/>
              </a:rPr>
              <a:t>Probar XGBoost, Gradient Boosting, más variables, log-transform...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e88d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2" name="TextBox 2"/>
          <p:cNvSpPr/>
          <p:nvPr/>
        </p:nvSpPr>
        <p:spPr>
          <a:xfrm>
            <a:off x="914400" y="1645920"/>
            <a:ext cx="1005804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</a:rPr>
              <a:t>🙌  </a:t>
            </a:r>
            <a:r>
              <a:rPr b="1" lang="en-US" sz="4400" spc="-1" strike="noStrike">
                <a:solidFill>
                  <a:srgbClr val="ffffff"/>
                </a:solidFill>
                <a:latin typeface="Calibri"/>
              </a:rPr>
              <a:t>¡Gracias!</a:t>
            </a:r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Rectangle 3"/>
          <p:cNvSpPr/>
          <p:nvPr/>
        </p:nvSpPr>
        <p:spPr>
          <a:xfrm>
            <a:off x="0" y="2377440"/>
            <a:ext cx="12191400" cy="36360"/>
          </a:xfrm>
          <a:prstGeom prst="rect">
            <a:avLst/>
          </a:prstGeom>
          <a:solidFill>
            <a:srgbClr val="e88d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4" name="TextBox 4"/>
          <p:cNvSpPr/>
          <p:nvPr/>
        </p:nvSpPr>
        <p:spPr>
          <a:xfrm>
            <a:off x="2743200" y="2743200"/>
            <a:ext cx="68576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e88d2a"/>
                </a:solidFill>
                <a:latin typeface="Calibri"/>
              </a:rPr>
              <a:t>📂  </a:t>
            </a:r>
            <a:r>
              <a:rPr b="1" lang="en-US" sz="2000" spc="-1" strike="noStrike">
                <a:solidFill>
                  <a:srgbClr val="e88d2a"/>
                </a:solidFill>
                <a:latin typeface="Calibri"/>
              </a:rPr>
              <a:t>Repositorio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TextBox 5"/>
          <p:cNvSpPr/>
          <p:nvPr/>
        </p:nvSpPr>
        <p:spPr>
          <a:xfrm>
            <a:off x="2743200" y="3063240"/>
            <a:ext cx="68576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bbccdd"/>
                </a:solidFill>
                <a:latin typeface="Calibri"/>
              </a:rPr>
              <a:t>github.com/Racap/house-prices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TextBox 6"/>
          <p:cNvSpPr/>
          <p:nvPr/>
        </p:nvSpPr>
        <p:spPr>
          <a:xfrm>
            <a:off x="2743200" y="3520440"/>
            <a:ext cx="68576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e88d2a"/>
                </a:solidFill>
                <a:latin typeface="Calibri"/>
              </a:rPr>
              <a:t>🌐  </a:t>
            </a:r>
            <a:r>
              <a:rPr b="1" lang="en-US" sz="2000" spc="-1" strike="noStrike">
                <a:solidFill>
                  <a:srgbClr val="e88d2a"/>
                </a:solidFill>
                <a:latin typeface="Calibri"/>
              </a:rPr>
              <a:t>App Streamlit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TextBox 7"/>
          <p:cNvSpPr/>
          <p:nvPr/>
        </p:nvSpPr>
        <p:spPr>
          <a:xfrm>
            <a:off x="2743200" y="3840480"/>
            <a:ext cx="68576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bbccdd"/>
                </a:solidFill>
                <a:latin typeface="Calibri"/>
              </a:rPr>
              <a:t>house-prices-v3nrejcyjltytdctev9hgk.streamlit.app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TextBox 8"/>
          <p:cNvSpPr/>
          <p:nvPr/>
        </p:nvSpPr>
        <p:spPr>
          <a:xfrm>
            <a:off x="2743200" y="4297680"/>
            <a:ext cx="68576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e88d2a"/>
                </a:solidFill>
                <a:latin typeface="Calibri"/>
              </a:rPr>
              <a:t>🎥  </a:t>
            </a:r>
            <a:r>
              <a:rPr b="1" lang="en-US" sz="2000" spc="-1" strike="noStrike">
                <a:solidFill>
                  <a:srgbClr val="e88d2a"/>
                </a:solidFill>
                <a:latin typeface="Calibri"/>
              </a:rPr>
              <a:t>Vídeo demostración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" name="TextBox 9"/>
          <p:cNvSpPr/>
          <p:nvPr/>
        </p:nvSpPr>
        <p:spPr>
          <a:xfrm>
            <a:off x="2743200" y="4617720"/>
            <a:ext cx="68576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bbccdd"/>
                </a:solidFill>
                <a:latin typeface="Calibri"/>
              </a:rPr>
              <a:t>youtu.be/KWWt_EOOM8A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TextBox 10"/>
          <p:cNvSpPr/>
          <p:nvPr/>
        </p:nvSpPr>
        <p:spPr>
          <a:xfrm>
            <a:off x="2743200" y="5074920"/>
            <a:ext cx="68576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e88d2a"/>
                </a:solidFill>
                <a:latin typeface="Calibri"/>
              </a:rPr>
              <a:t>📄  </a:t>
            </a:r>
            <a:r>
              <a:rPr b="1" lang="en-US" sz="2000" spc="-1" strike="noStrike">
                <a:solidFill>
                  <a:srgbClr val="e88d2a"/>
                </a:solidFill>
                <a:latin typeface="Calibri"/>
              </a:rPr>
              <a:t>Documentación técnica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TextBox 11"/>
          <p:cNvSpPr/>
          <p:nvPr/>
        </p:nvSpPr>
        <p:spPr>
          <a:xfrm>
            <a:off x="2743200" y="5394960"/>
            <a:ext cx="68576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bbccdd"/>
                </a:solidFill>
                <a:latin typeface="Calibri"/>
              </a:rPr>
              <a:t>doc.pdf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Rectangle 12"/>
          <p:cNvSpPr/>
          <p:nvPr/>
        </p:nvSpPr>
        <p:spPr>
          <a:xfrm>
            <a:off x="0" y="6217920"/>
            <a:ext cx="12191400" cy="54360"/>
          </a:xfrm>
          <a:prstGeom prst="rect">
            <a:avLst/>
          </a:prstGeom>
          <a:solidFill>
            <a:srgbClr val="e88d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3" name="TextBox 13"/>
          <p:cNvSpPr/>
          <p:nvPr/>
        </p:nvSpPr>
        <p:spPr>
          <a:xfrm>
            <a:off x="914400" y="6309360"/>
            <a:ext cx="100580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¿Preguntas?  😊</a:t>
            </a:r>
            <a:endParaRPr b="0" lang="es-ES" sz="2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es-ES</dc:language>
  <cp:lastModifiedBy/>
  <dcterms:modified xsi:type="dcterms:W3CDTF">2026-05-09T22:57:22Z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